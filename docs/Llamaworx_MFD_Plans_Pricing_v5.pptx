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1665149d-b772-2fa5-478c-fcc0a82d6408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Plans and pricing" id="{b1727580-999f-5780-1a88-eb4e8a1c5f6d}">
          <p14:sldIdLst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Ownership and FAQs" id="{effdbfe5-6502-0684-bfc3-95fcbed04dc4}">
          <p14:sldIdLst>
            <p14:sldId id="271"/>
            <p14:sldId id="272"/>
            <p14:sldId id="273"/>
          </p14:sldIdLst>
        </p14:section>
        <p14:section name="Appendix: feature list" id="{b3316439-70b4-cbee-9014-134277f4d50a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+mn-lt"/>
              </a:defRPr>
            </a:pPr>
            <a:r>
              <a:rPr sz="1000" b="0" i="0" u="none" strike="noStrike">
                <a:solidFill>
                  <a:srgbClr val="475569"/>
                </a:solidFill>
                <a:latin typeface="+mn-lt"/>
              </a:rPr>
              <a:t>Enquiries per week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Enquiries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7556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6</c:v>
                </c:pt>
                <c:pt idx="2">
                  <c:v>5</c:v>
                </c:pt>
                <c:pt idx="3">
                  <c:v>8</c:v>
                </c:pt>
                <c:pt idx="4">
                  <c:v>7</c:v>
                </c:pt>
                <c:pt idx="5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47556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49377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783080"/>
            <a:ext cx="457200" cy="548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9202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548640" y="4736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4"/>
                </a:solidFill>
              </a:rPr>
              <a:t>LLAMAWORX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75488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Shape 0"/>
          <p:cNvSpPr/>
          <p:nvPr/>
        </p:nvSpPr>
        <p:spPr>
          <a:xfrm>
            <a:off x="548640" y="4681728"/>
            <a:ext cx="80467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4754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LLAMAWORX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4630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Digital growth platform for Mutual Fund Distributors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slideLayout" Target="../slideLayouts/slideLayout4.xml"/><Relationship Id="rId1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hart" Target="/ppt/charts/chart1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bg1"/>
                </a:solidFill>
              </a:rPr>
              <a:t>LLAMAWORX</a:t>
            </a:r>
            <a:endParaRPr lang="en-US" sz="1300" dirty="0"/>
          </a:p>
        </p:txBody>
      </p:sp>
      <p:sp>
        <p:nvSpPr>
          <p:cNvPr id="3" name="Title pill"/>
          <p:cNvSpPr/>
          <p:nvPr/>
        </p:nvSpPr>
        <p:spPr>
          <a:xfrm>
            <a:off x="548640" y="960120"/>
            <a:ext cx="2743200" cy="292608"/>
          </a:xfrm>
          <a:prstGeom prst="roundRect">
            <a:avLst>
              <a:gd name="adj" fmla="val 50000"/>
            </a:avLst>
          </a:prstGeom>
          <a:solidFill>
            <a:schemeClr val="accent1">
              <a:alpha val="2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9601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Digital growth platform for MFDs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13716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Your AI front office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402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A compliant website that answers investors, captures enquiries and books meetings — day and night.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069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Plans, pricing and feature guide  ·  Webinar edition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3708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Llamaworx Software Pvt Ltd  ·  Llamaworx.com</a:t>
            </a:r>
            <a:endParaRPr lang="en-US" sz="1100" dirty="0"/>
          </a:p>
        </p:txBody>
      </p:sp>
      <p:sp>
        <p:nvSpPr>
          <p:cNvPr id="9" name="Mock browser"/>
          <p:cNvSpPr/>
          <p:nvPr/>
        </p:nvSpPr>
        <p:spPr>
          <a:xfrm>
            <a:off x="5760720" y="777240"/>
            <a:ext cx="2834640" cy="3611880"/>
          </a:xfrm>
          <a:prstGeom prst="roundRect">
            <a:avLst>
              <a:gd name="adj" fmla="val 193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Mock bar"/>
          <p:cNvSpPr/>
          <p:nvPr/>
        </p:nvSpPr>
        <p:spPr>
          <a:xfrm>
            <a:off x="5760720" y="1088136"/>
            <a:ext cx="28346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Mock dot 0"/>
          <p:cNvSpPr/>
          <p:nvPr/>
        </p:nvSpPr>
        <p:spPr>
          <a:xfrm>
            <a:off x="5897880" y="886968"/>
            <a:ext cx="82296" cy="8229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2" name="Mock dot 1"/>
          <p:cNvSpPr/>
          <p:nvPr/>
        </p:nvSpPr>
        <p:spPr>
          <a:xfrm>
            <a:off x="6035040" y="886968"/>
            <a:ext cx="82296" cy="8229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Mock dot 2"/>
          <p:cNvSpPr/>
          <p:nvPr/>
        </p:nvSpPr>
        <p:spPr>
          <a:xfrm>
            <a:off x="6172200" y="886968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89320" y="1234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Sharma Investments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150876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AMFI-registered Mutual Fund Distributor · ARN-XXXXX</a:t>
            </a:r>
            <a:endParaRPr lang="en-US" sz="800" dirty="0"/>
          </a:p>
        </p:txBody>
      </p:sp>
      <p:sp>
        <p:nvSpPr>
          <p:cNvPr id="16" name="Mock CTA"/>
          <p:cNvSpPr/>
          <p:nvPr/>
        </p:nvSpPr>
        <p:spPr>
          <a:xfrm>
            <a:off x="5989320" y="1801368"/>
            <a:ext cx="1188720" cy="292608"/>
          </a:xfrm>
          <a:prstGeom prst="roundRect">
            <a:avLst>
              <a:gd name="adj" fmla="val 187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89320" y="18013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Book a meeting</a:t>
            </a:r>
            <a:endParaRPr lang="en-US" sz="950" dirty="0"/>
          </a:p>
        </p:txBody>
      </p:sp>
      <p:sp>
        <p:nvSpPr>
          <p:cNvPr id="18" name="Mock chat investor"/>
          <p:cNvSpPr/>
          <p:nvPr/>
        </p:nvSpPr>
        <p:spPr>
          <a:xfrm>
            <a:off x="5989320" y="2258568"/>
            <a:ext cx="2377440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99048" y="22585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Can I start a SIP of ₹2,000 a month?</a:t>
            </a:r>
            <a:endParaRPr lang="en-US" sz="1000" dirty="0"/>
          </a:p>
        </p:txBody>
      </p:sp>
      <p:sp>
        <p:nvSpPr>
          <p:cNvPr id="20" name="Mock chat assistant"/>
          <p:cNvSpPr/>
          <p:nvPr/>
        </p:nvSpPr>
        <p:spPr>
          <a:xfrm>
            <a:off x="5989320" y="2834640"/>
            <a:ext cx="2377440" cy="868680"/>
          </a:xfrm>
          <a:prstGeom prst="roundRect">
            <a:avLst>
              <a:gd name="adj" fmla="val 631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99048" y="289864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Yes — most schemes accept SIPs from small amounts. Shall I book a call with your distributor to get you started?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989320" y="39776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chemeClr val="accent4"/>
                </a:solidFill>
              </a:rPr>
              <a:t>Illustrative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7548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Your investors look you up before they call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chemeClr val="accent1"/>
                </a:solidFill>
              </a:rPr>
              <a:t>THE OPPORTUNITY</a:t>
            </a:r>
            <a:endParaRPr lang="en-US" sz="1050" dirty="0"/>
          </a:p>
        </p:txBody>
      </p:sp>
      <p:sp>
        <p:nvSpPr>
          <p:cNvPr id="4" name="Opportunity 1"/>
          <p:cNvSpPr/>
          <p:nvPr/>
        </p:nvSpPr>
        <p:spPr>
          <a:xfrm>
            <a:off x="548640" y="1280160"/>
            <a:ext cx="2560320" cy="2514600"/>
          </a:xfrm>
          <a:prstGeom prst="roundRect">
            <a:avLst>
              <a:gd name="adj" fmla="val 2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Opportunity 1 icon tile"/>
          <p:cNvSpPr/>
          <p:nvPr/>
        </p:nvSpPr>
        <p:spPr>
          <a:xfrm>
            <a:off x="804672" y="150876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Opportunity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314" y="1619402"/>
            <a:ext cx="281635" cy="2816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They check you online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578608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Investors and their families search your name before the first meeting. A professional site builds trust before you speak.</a:t>
            </a:r>
            <a:endParaRPr lang="en-US" sz="1300" dirty="0"/>
          </a:p>
        </p:txBody>
      </p:sp>
      <p:sp>
        <p:nvSpPr>
          <p:cNvPr id="9" name="Opportunity 2"/>
          <p:cNvSpPr/>
          <p:nvPr/>
        </p:nvSpPr>
        <p:spPr>
          <a:xfrm>
            <a:off x="3291840" y="1280160"/>
            <a:ext cx="2560320" cy="2514600"/>
          </a:xfrm>
          <a:prstGeom prst="roundRect">
            <a:avLst>
              <a:gd name="adj" fmla="val 2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Opportunity 2 icon tile"/>
          <p:cNvSpPr/>
          <p:nvPr/>
        </p:nvSpPr>
        <p:spPr>
          <a:xfrm>
            <a:off x="3547872" y="150876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1" name="Opportunity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8514" y="161940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47872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They ask at odd hours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547872" y="2578608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Questions arrive at night, on weekends and on WhatsApp — when you are with other clients or off duty.</a:t>
            </a:r>
            <a:endParaRPr lang="en-US" sz="1300" dirty="0"/>
          </a:p>
        </p:txBody>
      </p:sp>
      <p:sp>
        <p:nvSpPr>
          <p:cNvPr id="14" name="Opportunity 3"/>
          <p:cNvSpPr/>
          <p:nvPr/>
        </p:nvSpPr>
        <p:spPr>
          <a:xfrm>
            <a:off x="6035040" y="1280160"/>
            <a:ext cx="2560320" cy="2514600"/>
          </a:xfrm>
          <a:prstGeom prst="roundRect">
            <a:avLst>
              <a:gd name="adj" fmla="val 2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Opportunity 3 icon tile"/>
          <p:cNvSpPr/>
          <p:nvPr/>
        </p:nvSpPr>
        <p:spPr>
          <a:xfrm>
            <a:off x="6291072" y="150876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6" name="Opportunity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714" y="1619402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91072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Enquiries slip through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291072" y="2578608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Calls, forms and messages sit in different places. Without reminders, follow-ups get missed.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Llamaworx brings all three onto one platform, built only for MFDs.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7548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One platform, four outcomes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chemeClr val="accent1"/>
                </a:solidFill>
              </a:rPr>
              <a:t>WHAT YOU GET</a:t>
            </a:r>
            <a:endParaRPr lang="en-US" sz="1050" dirty="0"/>
          </a:p>
        </p:txBody>
      </p:sp>
      <p:sp>
        <p:nvSpPr>
          <p:cNvPr id="4" name="Outcome 1"/>
          <p:cNvSpPr/>
          <p:nvPr/>
        </p:nvSpPr>
        <p:spPr>
          <a:xfrm>
            <a:off x="548640" y="1280160"/>
            <a:ext cx="1883664" cy="2377440"/>
          </a:xfrm>
          <a:prstGeom prst="roundRect">
            <a:avLst>
              <a:gd name="adj" fmla="val 29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Outcome 1 icon tile"/>
          <p:cNvSpPr/>
          <p:nvPr/>
        </p:nvSpPr>
        <p:spPr>
          <a:xfrm>
            <a:off x="777240" y="1481328"/>
            <a:ext cx="475488" cy="475488"/>
          </a:xfrm>
          <a:prstGeom prst="roundRect">
            <a:avLst>
              <a:gd name="adj" fmla="val 1538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Outcom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847" y="1585935"/>
            <a:ext cx="266273" cy="26627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1031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Look professional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974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Branded website with your services, calculators and investor education</a:t>
            </a:r>
            <a:endParaRPr lang="en-US" sz="1250" dirty="0"/>
          </a:p>
        </p:txBody>
      </p:sp>
      <p:sp>
        <p:nvSpPr>
          <p:cNvPr id="9" name="Outcome 2"/>
          <p:cNvSpPr/>
          <p:nvPr/>
        </p:nvSpPr>
        <p:spPr>
          <a:xfrm>
            <a:off x="2596896" y="1280160"/>
            <a:ext cx="1883664" cy="2377440"/>
          </a:xfrm>
          <a:prstGeom prst="roundRect">
            <a:avLst>
              <a:gd name="adj" fmla="val 29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Outcome 2 icon tile"/>
          <p:cNvSpPr/>
          <p:nvPr/>
        </p:nvSpPr>
        <p:spPr>
          <a:xfrm>
            <a:off x="2825496" y="1481328"/>
            <a:ext cx="475488" cy="475488"/>
          </a:xfrm>
          <a:prstGeom prst="roundRect">
            <a:avLst>
              <a:gd name="adj" fmla="val 1538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1" name="Outcom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103" y="1585935"/>
            <a:ext cx="266273" cy="26627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825496" y="21031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Answer instantly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825496" y="26974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AI assistants answer from content you approve — on your site, WhatsApp and phone</a:t>
            </a:r>
            <a:endParaRPr lang="en-US" sz="1250" dirty="0"/>
          </a:p>
        </p:txBody>
      </p:sp>
      <p:sp>
        <p:nvSpPr>
          <p:cNvPr id="14" name="Outcome 3"/>
          <p:cNvSpPr/>
          <p:nvPr/>
        </p:nvSpPr>
        <p:spPr>
          <a:xfrm>
            <a:off x="4645152" y="1280160"/>
            <a:ext cx="1883664" cy="2377440"/>
          </a:xfrm>
          <a:prstGeom prst="roundRect">
            <a:avLst>
              <a:gd name="adj" fmla="val 29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Outcome 3 icon tile"/>
          <p:cNvSpPr/>
          <p:nvPr/>
        </p:nvSpPr>
        <p:spPr>
          <a:xfrm>
            <a:off x="4873752" y="1481328"/>
            <a:ext cx="475488" cy="475488"/>
          </a:xfrm>
          <a:prstGeom prst="roundRect">
            <a:avLst>
              <a:gd name="adj" fmla="val 1538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6" name="Outcom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359" y="1585935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873752" y="21031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Never miss a follow-up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4873752" y="26974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Every enquiry in one inbox, with reminders and meeting booking</a:t>
            </a:r>
            <a:endParaRPr lang="en-US" sz="1250" dirty="0"/>
          </a:p>
        </p:txBody>
      </p:sp>
      <p:sp>
        <p:nvSpPr>
          <p:cNvPr id="19" name="Outcome 4"/>
          <p:cNvSpPr/>
          <p:nvPr/>
        </p:nvSpPr>
        <p:spPr>
          <a:xfrm>
            <a:off x="6693408" y="1280160"/>
            <a:ext cx="1883664" cy="2377440"/>
          </a:xfrm>
          <a:prstGeom prst="roundRect">
            <a:avLst>
              <a:gd name="adj" fmla="val 29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Outcome 4 icon tile"/>
          <p:cNvSpPr/>
          <p:nvPr/>
        </p:nvSpPr>
        <p:spPr>
          <a:xfrm>
            <a:off x="6922008" y="1481328"/>
            <a:ext cx="475488" cy="475488"/>
          </a:xfrm>
          <a:prstGeom prst="roundRect">
            <a:avLst>
              <a:gd name="adj" fmla="val 1538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1" name="Outcom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6615" y="1585935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22008" y="21031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Get found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922008" y="26974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SEO and AEO tools so search engines and AI assistants can find you</a:t>
            </a:r>
            <a:endParaRPr lang="en-US" sz="1250" dirty="0"/>
          </a:p>
        </p:txBody>
      </p:sp>
      <p:sp>
        <p:nvSpPr>
          <p:cNvPr id="24" name="Compliance band"/>
          <p:cNvSpPr/>
          <p:nvPr/>
        </p:nvSpPr>
        <p:spPr>
          <a:xfrm>
            <a:off x="548640" y="3886200"/>
            <a:ext cx="8046720" cy="54864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5" name="Compliance band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005072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18872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On every plan: AMFI-aligned compliance built into every page and every AI answer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7548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Live in days, not months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chemeClr val="accent1"/>
                </a:solidFill>
              </a:rPr>
              <a:t>HOW IT WORKS</a:t>
            </a:r>
            <a:endParaRPr lang="en-US" sz="1050" dirty="0"/>
          </a:p>
        </p:txBody>
      </p:sp>
      <p:sp>
        <p:nvSpPr>
          <p:cNvPr id="4" name="Step 1"/>
          <p:cNvSpPr/>
          <p:nvPr/>
        </p:nvSpPr>
        <p:spPr>
          <a:xfrm>
            <a:off x="548640" y="13258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Step arrow 1"/>
          <p:cNvSpPr/>
          <p:nvPr/>
        </p:nvSpPr>
        <p:spPr>
          <a:xfrm>
            <a:off x="1261872" y="1609344"/>
            <a:ext cx="1188720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dash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548640" y="21031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Share your details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87168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ARN, logo, photo, services and the languages you work in</a:t>
            </a:r>
            <a:endParaRPr lang="en-US" sz="1300" dirty="0"/>
          </a:p>
        </p:txBody>
      </p:sp>
      <p:sp>
        <p:nvSpPr>
          <p:cNvPr id="9" name="Step 2"/>
          <p:cNvSpPr/>
          <p:nvPr/>
        </p:nvSpPr>
        <p:spPr>
          <a:xfrm>
            <a:off x="2596896" y="13258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96896" y="1325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Step arrow 2"/>
          <p:cNvSpPr/>
          <p:nvPr/>
        </p:nvSpPr>
        <p:spPr>
          <a:xfrm>
            <a:off x="3310128" y="1609344"/>
            <a:ext cx="1188720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dash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596896" y="21031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We build your site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596896" y="2487168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In your branding, from MFD templates. Soon: our AI builder does it in under an hour</a:t>
            </a:r>
            <a:endParaRPr lang="en-US" sz="1300" dirty="0"/>
          </a:p>
        </p:txBody>
      </p:sp>
      <p:sp>
        <p:nvSpPr>
          <p:cNvPr id="14" name="Step 3"/>
          <p:cNvSpPr/>
          <p:nvPr/>
        </p:nvSpPr>
        <p:spPr>
          <a:xfrm>
            <a:off x="4645152" y="13258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45152" y="1325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Step arrow 3"/>
          <p:cNvSpPr/>
          <p:nvPr/>
        </p:nvSpPr>
        <p:spPr>
          <a:xfrm>
            <a:off x="5358384" y="1609344"/>
            <a:ext cx="1188720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dash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4645152" y="21031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Review and approve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645152" y="2487168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Every page and every assistant answer goes live only after you approve it</a:t>
            </a:r>
            <a:endParaRPr lang="en-US" sz="1300" dirty="0"/>
          </a:p>
        </p:txBody>
      </p:sp>
      <p:sp>
        <p:nvSpPr>
          <p:cNvPr id="19" name="Step 4"/>
          <p:cNvSpPr/>
          <p:nvPr/>
        </p:nvSpPr>
        <p:spPr>
          <a:xfrm>
            <a:off x="6693408" y="13258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93408" y="1325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693408" y="21031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Go live and grow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693408" y="2487168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Manage pages, enquiries, reports and AI usage from your console</a:t>
            </a:r>
            <a:endParaRPr lang="en-US" sz="1300" dirty="0"/>
          </a:p>
        </p:txBody>
      </p:sp>
      <p:sp>
        <p:nvSpPr>
          <p:cNvPr id="23" name="Domain note"/>
          <p:cNvSpPr/>
          <p:nvPr/>
        </p:nvSpPr>
        <p:spPr>
          <a:xfrm>
            <a:off x="548640" y="3931920"/>
            <a:ext cx="8046720" cy="502920"/>
          </a:xfrm>
          <a:prstGeom prst="roundRect">
            <a:avLst>
              <a:gd name="adj" fmla="val 1090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4" name="Domain not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041648"/>
            <a:ext cx="274320" cy="27432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143000" y="39319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Your domain stays registered in your name. We manage hosting, security and updates.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7548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Sixteen modules, switched on by plan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chemeClr val="accent1"/>
                </a:solidFill>
              </a:rPr>
              <a:t>MODULES</a:t>
            </a:r>
            <a:endParaRPr lang="en-US" sz="1050" dirty="0"/>
          </a:p>
        </p:txBody>
      </p:sp>
      <p:sp>
        <p:nvSpPr>
          <p:cNvPr id="4" name="Legend All plans"/>
          <p:cNvSpPr/>
          <p:nvPr/>
        </p:nvSpPr>
        <p:spPr>
          <a:xfrm>
            <a:off x="548640" y="1161288"/>
            <a:ext cx="182880" cy="18288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13385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All plans</a:t>
            </a:r>
            <a:endParaRPr lang="en-US" sz="1100" dirty="0"/>
          </a:p>
        </p:txBody>
      </p:sp>
      <p:sp>
        <p:nvSpPr>
          <p:cNvPr id="6" name="Legend Growth &amp; Pro"/>
          <p:cNvSpPr/>
          <p:nvPr/>
        </p:nvSpPr>
        <p:spPr>
          <a:xfrm>
            <a:off x="1965960" y="1161288"/>
            <a:ext cx="182880" cy="18288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21992" y="113385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Growth &amp; Pro</a:t>
            </a:r>
            <a:endParaRPr lang="en-US" sz="1100" dirty="0"/>
          </a:p>
        </p:txBody>
      </p:sp>
      <p:sp>
        <p:nvSpPr>
          <p:cNvPr id="8" name="Legend Pro"/>
          <p:cNvSpPr/>
          <p:nvPr/>
        </p:nvSpPr>
        <p:spPr>
          <a:xfrm>
            <a:off x="3383280" y="1161288"/>
            <a:ext cx="182880" cy="18288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39312" y="113385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Pro</a:t>
            </a:r>
            <a:endParaRPr lang="en-US" sz="1100" dirty="0"/>
          </a:p>
        </p:txBody>
      </p:sp>
      <p:sp>
        <p:nvSpPr>
          <p:cNvPr id="10" name="Module Branded website"/>
          <p:cNvSpPr/>
          <p:nvPr/>
        </p:nvSpPr>
        <p:spPr>
          <a:xfrm>
            <a:off x="548640" y="1508760"/>
            <a:ext cx="1911096" cy="658368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1" name="Module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00784"/>
            <a:ext cx="274320" cy="27432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115568" y="1508760"/>
            <a:ext cx="127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Branded website</a:t>
            </a:r>
            <a:endParaRPr lang="en-US" sz="1300" dirty="0"/>
          </a:p>
        </p:txBody>
      </p:sp>
      <p:sp>
        <p:nvSpPr>
          <p:cNvPr id="13" name="Module Investor tools"/>
          <p:cNvSpPr/>
          <p:nvPr/>
        </p:nvSpPr>
        <p:spPr>
          <a:xfrm>
            <a:off x="2594153" y="1508760"/>
            <a:ext cx="1911096" cy="658368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4" name="Module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033" y="1700784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161081" y="1508760"/>
            <a:ext cx="127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Investor tools</a:t>
            </a:r>
            <a:endParaRPr lang="en-US" sz="1300" dirty="0"/>
          </a:p>
        </p:txBody>
      </p:sp>
      <p:sp>
        <p:nvSpPr>
          <p:cNvPr id="16" name="Module Lead inbox"/>
          <p:cNvSpPr/>
          <p:nvPr/>
        </p:nvSpPr>
        <p:spPr>
          <a:xfrm>
            <a:off x="4639666" y="1508760"/>
            <a:ext cx="1911096" cy="658368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Module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546" y="1700784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206594" y="1508760"/>
            <a:ext cx="127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Lead inbox</a:t>
            </a:r>
            <a:endParaRPr lang="en-US" sz="1300" dirty="0"/>
          </a:p>
        </p:txBody>
      </p:sp>
      <p:sp>
        <p:nvSpPr>
          <p:cNvPr id="19" name="Module SEO toolkit"/>
          <p:cNvSpPr/>
          <p:nvPr/>
        </p:nvSpPr>
        <p:spPr>
          <a:xfrm>
            <a:off x="6685178" y="1508760"/>
            <a:ext cx="1911096" cy="658368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0" name="Module 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8058" y="1700784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252106" y="1508760"/>
            <a:ext cx="127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SEO toolkit</a:t>
            </a:r>
            <a:endParaRPr lang="en-US" sz="1300" dirty="0"/>
          </a:p>
        </p:txBody>
      </p:sp>
      <p:sp>
        <p:nvSpPr>
          <p:cNvPr id="22" name="Module Compliance pack"/>
          <p:cNvSpPr/>
          <p:nvPr/>
        </p:nvSpPr>
        <p:spPr>
          <a:xfrm>
            <a:off x="548640" y="2286000"/>
            <a:ext cx="1911096" cy="658368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3" name="Module icon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478024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115568" y="2286000"/>
            <a:ext cx="127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Compliance pack</a:t>
            </a:r>
            <a:endParaRPr lang="en-US" sz="1300" dirty="0"/>
          </a:p>
        </p:txBody>
      </p:sp>
      <p:sp>
        <p:nvSpPr>
          <p:cNvPr id="25" name="Module Website AI chat"/>
          <p:cNvSpPr/>
          <p:nvPr/>
        </p:nvSpPr>
        <p:spPr>
          <a:xfrm>
            <a:off x="2594153" y="2286000"/>
            <a:ext cx="1911096" cy="658368"/>
          </a:xfrm>
          <a:prstGeom prst="roundRect">
            <a:avLst>
              <a:gd name="adj" fmla="val 833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6" name="Module icon 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7033" y="2478024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3161081" y="2286000"/>
            <a:ext cx="127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Website AI chat</a:t>
            </a:r>
            <a:endParaRPr lang="en-US" sz="1300" dirty="0"/>
          </a:p>
        </p:txBody>
      </p:sp>
      <p:sp>
        <p:nvSpPr>
          <p:cNvPr id="28" name="Module WhatsApp AI"/>
          <p:cNvSpPr/>
          <p:nvPr/>
        </p:nvSpPr>
        <p:spPr>
          <a:xfrm>
            <a:off x="4639666" y="2286000"/>
            <a:ext cx="1911096" cy="658368"/>
          </a:xfrm>
          <a:prstGeom prst="roundRect">
            <a:avLst>
              <a:gd name="adj" fmla="val 833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9" name="Module icon 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2546" y="2478024"/>
            <a:ext cx="274320" cy="27432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5206594" y="2286000"/>
            <a:ext cx="127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WhatsApp AI</a:t>
            </a:r>
            <a:endParaRPr lang="en-US" sz="1300" dirty="0"/>
          </a:p>
        </p:txBody>
      </p:sp>
      <p:sp>
        <p:nvSpPr>
          <p:cNvPr id="31" name="Module Meeting booking"/>
          <p:cNvSpPr/>
          <p:nvPr/>
        </p:nvSpPr>
        <p:spPr>
          <a:xfrm>
            <a:off x="6685178" y="2286000"/>
            <a:ext cx="1911096" cy="658368"/>
          </a:xfrm>
          <a:prstGeom prst="roundRect">
            <a:avLst>
              <a:gd name="adj" fmla="val 833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2" name="Module icon 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8058" y="2478024"/>
            <a:ext cx="274320" cy="27432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7252106" y="2286000"/>
            <a:ext cx="127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Meeting booking</a:t>
            </a:r>
            <a:endParaRPr lang="en-US" sz="1300" dirty="0"/>
          </a:p>
        </p:txBody>
      </p:sp>
      <p:sp>
        <p:nvSpPr>
          <p:cNvPr id="34" name="Module AEO toolkit"/>
          <p:cNvSpPr/>
          <p:nvPr/>
        </p:nvSpPr>
        <p:spPr>
          <a:xfrm>
            <a:off x="548640" y="3063240"/>
            <a:ext cx="1911096" cy="658368"/>
          </a:xfrm>
          <a:prstGeom prst="roundRect">
            <a:avLst>
              <a:gd name="adj" fmla="val 833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5" name="Module icon 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3255264"/>
            <a:ext cx="274320" cy="274320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1115568" y="3063240"/>
            <a:ext cx="127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AEO toolkit</a:t>
            </a:r>
            <a:endParaRPr lang="en-US" sz="1300" dirty="0"/>
          </a:p>
        </p:txBody>
      </p:sp>
      <p:sp>
        <p:nvSpPr>
          <p:cNvPr id="37" name="Module Monthly reports"/>
          <p:cNvSpPr/>
          <p:nvPr/>
        </p:nvSpPr>
        <p:spPr>
          <a:xfrm>
            <a:off x="2594153" y="3063240"/>
            <a:ext cx="1911096" cy="658368"/>
          </a:xfrm>
          <a:prstGeom prst="roundRect">
            <a:avLst>
              <a:gd name="adj" fmla="val 833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8" name="Module icon 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77033" y="3255264"/>
            <a:ext cx="274320" cy="274320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3161081" y="3063240"/>
            <a:ext cx="127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Monthly reports</a:t>
            </a:r>
            <a:endParaRPr lang="en-US" sz="1300" dirty="0"/>
          </a:p>
        </p:txBody>
      </p:sp>
      <p:sp>
        <p:nvSpPr>
          <p:cNvPr id="40" name="Module Website voice"/>
          <p:cNvSpPr/>
          <p:nvPr/>
        </p:nvSpPr>
        <p:spPr>
          <a:xfrm>
            <a:off x="4639666" y="3063240"/>
            <a:ext cx="1911096" cy="658368"/>
          </a:xfrm>
          <a:prstGeom prst="roundRect">
            <a:avLst>
              <a:gd name="adj" fmla="val 833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1" name="Module icon 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22546" y="3255264"/>
            <a:ext cx="274320" cy="274320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5206594" y="3063240"/>
            <a:ext cx="127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Website voice</a:t>
            </a:r>
            <a:endParaRPr lang="en-US" sz="1300" dirty="0"/>
          </a:p>
        </p:txBody>
      </p:sp>
      <p:sp>
        <p:nvSpPr>
          <p:cNvPr id="43" name="Module Phone AI helpline"/>
          <p:cNvSpPr/>
          <p:nvPr/>
        </p:nvSpPr>
        <p:spPr>
          <a:xfrm>
            <a:off x="6685178" y="3063240"/>
            <a:ext cx="1911096" cy="658368"/>
          </a:xfrm>
          <a:prstGeom prst="roundRect">
            <a:avLst>
              <a:gd name="adj" fmla="val 833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4" name="Module icon 1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68058" y="3255264"/>
            <a:ext cx="274320" cy="274320"/>
          </a:xfrm>
          <a:prstGeom prst="rect">
            <a:avLst/>
          </a:prstGeom>
        </p:spPr>
      </p:pic>
      <p:sp>
        <p:nvSpPr>
          <p:cNvPr id="45" name="Text 31"/>
          <p:cNvSpPr txBox="1"/>
          <p:nvPr/>
        </p:nvSpPr>
        <p:spPr>
          <a:xfrm>
            <a:off x="7252106" y="3063240"/>
            <a:ext cx="127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Phone AI helpline</a:t>
            </a:r>
            <a:endParaRPr lang="en-US" sz="1300" dirty="0"/>
          </a:p>
        </p:txBody>
      </p:sp>
      <p:sp>
        <p:nvSpPr>
          <p:cNvPr id="46" name="Module Email nurture"/>
          <p:cNvSpPr/>
          <p:nvPr/>
        </p:nvSpPr>
        <p:spPr>
          <a:xfrm>
            <a:off x="548640" y="3840480"/>
            <a:ext cx="1911096" cy="658368"/>
          </a:xfrm>
          <a:prstGeom prst="roundRect">
            <a:avLst>
              <a:gd name="adj" fmla="val 833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7" name="Module icon 13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1520" y="4032504"/>
            <a:ext cx="274320" cy="274320"/>
          </a:xfrm>
          <a:prstGeom prst="rect">
            <a:avLst/>
          </a:prstGeom>
        </p:spPr>
      </p:pic>
      <p:sp>
        <p:nvSpPr>
          <p:cNvPr id="48" name="Text 33"/>
          <p:cNvSpPr txBox="1"/>
          <p:nvPr/>
        </p:nvSpPr>
        <p:spPr>
          <a:xfrm>
            <a:off x="1115568" y="3840480"/>
            <a:ext cx="127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Email nurture</a:t>
            </a:r>
            <a:endParaRPr lang="en-US" sz="1300" dirty="0"/>
          </a:p>
        </p:txBody>
      </p:sp>
      <p:sp>
        <p:nvSpPr>
          <p:cNvPr id="49" name="Module Instagram AI"/>
          <p:cNvSpPr/>
          <p:nvPr/>
        </p:nvSpPr>
        <p:spPr>
          <a:xfrm>
            <a:off x="2594153" y="3840480"/>
            <a:ext cx="1911096" cy="658368"/>
          </a:xfrm>
          <a:prstGeom prst="roundRect">
            <a:avLst>
              <a:gd name="adj" fmla="val 833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50" name="Module icon 14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77033" y="4032504"/>
            <a:ext cx="274320" cy="274320"/>
          </a:xfrm>
          <a:prstGeom prst="rect">
            <a:avLst/>
          </a:prstGeom>
        </p:spPr>
      </p:pic>
      <p:sp>
        <p:nvSpPr>
          <p:cNvPr id="51" name="Text 35"/>
          <p:cNvSpPr txBox="1"/>
          <p:nvPr/>
        </p:nvSpPr>
        <p:spPr>
          <a:xfrm>
            <a:off x="3161081" y="3840480"/>
            <a:ext cx="127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Instagram AI</a:t>
            </a:r>
            <a:endParaRPr lang="en-US" sz="1300" dirty="0"/>
          </a:p>
        </p:txBody>
      </p:sp>
      <p:sp>
        <p:nvSpPr>
          <p:cNvPr id="52" name="Module Content agent"/>
          <p:cNvSpPr/>
          <p:nvPr/>
        </p:nvSpPr>
        <p:spPr>
          <a:xfrm>
            <a:off x="4639666" y="3840480"/>
            <a:ext cx="1911096" cy="658368"/>
          </a:xfrm>
          <a:prstGeom prst="roundRect">
            <a:avLst>
              <a:gd name="adj" fmla="val 833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53" name="Module icon 15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22546" y="4032504"/>
            <a:ext cx="274320" cy="274320"/>
          </a:xfrm>
          <a:prstGeom prst="rect">
            <a:avLst/>
          </a:prstGeom>
        </p:spPr>
      </p:pic>
      <p:sp>
        <p:nvSpPr>
          <p:cNvPr id="54" name="Text 37"/>
          <p:cNvSpPr txBox="1"/>
          <p:nvPr/>
        </p:nvSpPr>
        <p:spPr>
          <a:xfrm>
            <a:off x="5206594" y="3840480"/>
            <a:ext cx="127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Content agent</a:t>
            </a:r>
            <a:endParaRPr lang="en-US" sz="1300" dirty="0"/>
          </a:p>
        </p:txBody>
      </p:sp>
      <p:sp>
        <p:nvSpPr>
          <p:cNvPr id="55" name="Module Team pages"/>
          <p:cNvSpPr/>
          <p:nvPr/>
        </p:nvSpPr>
        <p:spPr>
          <a:xfrm>
            <a:off x="6685178" y="3840480"/>
            <a:ext cx="1911096" cy="658368"/>
          </a:xfrm>
          <a:prstGeom prst="roundRect">
            <a:avLst>
              <a:gd name="adj" fmla="val 833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56" name="Module icon 16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68058" y="4032504"/>
            <a:ext cx="274320" cy="274320"/>
          </a:xfrm>
          <a:prstGeom prst="rect">
            <a:avLst/>
          </a:prstGeom>
        </p:spPr>
      </p:pic>
      <p:sp>
        <p:nvSpPr>
          <p:cNvPr id="57" name="Text 39"/>
          <p:cNvSpPr txBox="1"/>
          <p:nvPr/>
        </p:nvSpPr>
        <p:spPr>
          <a:xfrm>
            <a:off x="7252106" y="3840480"/>
            <a:ext cx="127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Team pages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7548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Tools your investors will actually use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chemeClr val="accent1"/>
                </a:solidFill>
              </a:rPr>
              <a:t>INVESTOR TOOLS</a:t>
            </a:r>
            <a:endParaRPr lang="en-US" sz="1050" dirty="0"/>
          </a:p>
        </p:txBody>
      </p:sp>
      <p:sp>
        <p:nvSpPr>
          <p:cNvPr id="4" name="Tools Plan ahead"/>
          <p:cNvSpPr/>
          <p:nvPr/>
        </p:nvSpPr>
        <p:spPr>
          <a:xfrm>
            <a:off x="548640" y="1234440"/>
            <a:ext cx="2560320" cy="2651760"/>
          </a:xfrm>
          <a:prstGeom prst="roundRect">
            <a:avLst>
              <a:gd name="adj" fmla="val 2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ools 1 icon tile"/>
          <p:cNvSpPr/>
          <p:nvPr/>
        </p:nvSpPr>
        <p:spPr>
          <a:xfrm>
            <a:off x="749808" y="1417320"/>
            <a:ext cx="438912" cy="438912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Tools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369" y="1513881"/>
            <a:ext cx="245791" cy="24579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98448" y="1399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Plan ahead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298448" y="16550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All plans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057400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SIP and step-up SIP</a:t>
            </a:r>
            <a:pPr indent="0" marL="0">
              <a:spcAft>
                <a:spcPts val="500"/>
              </a:spcAft>
              <a:buNone/>
            </a:pP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Lumpsum, SWP and STP</a:t>
            </a:r>
            <a:pPr indent="0" marL="0">
              <a:spcAft>
                <a:spcPts val="500"/>
              </a:spcAft>
              <a:buNone/>
            </a:pP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Retirement, education, home and marriage goals</a:t>
            </a:r>
            <a:pPr indent="0" marL="0">
              <a:spcAft>
                <a:spcPts val="500"/>
              </a:spcAft>
              <a:buNone/>
            </a:pP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Cost of delay and inflation</a:t>
            </a:r>
            <a:pPr indent="0" marL="0">
              <a:spcAft>
                <a:spcPts val="500"/>
              </a:spcAft>
              <a:buNone/>
            </a:pP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ELSS tax-saving estimator</a:t>
            </a:r>
            <a:pPr indent="0" marL="0">
              <a:spcAft>
                <a:spcPts val="500"/>
              </a:spcAft>
              <a:buNone/>
            </a:pPr>
            <a:endParaRPr lang="en-US" sz="1250" dirty="0"/>
          </a:p>
        </p:txBody>
      </p:sp>
      <p:sp>
        <p:nvSpPr>
          <p:cNvPr id="10" name="Tools Explore funds"/>
          <p:cNvSpPr/>
          <p:nvPr/>
        </p:nvSpPr>
        <p:spPr>
          <a:xfrm>
            <a:off x="3291840" y="1234440"/>
            <a:ext cx="2560320" cy="2651760"/>
          </a:xfrm>
          <a:prstGeom prst="roundRect">
            <a:avLst>
              <a:gd name="adj" fmla="val 2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ools 2 icon tile"/>
          <p:cNvSpPr/>
          <p:nvPr/>
        </p:nvSpPr>
        <p:spPr>
          <a:xfrm>
            <a:off x="3493008" y="1417320"/>
            <a:ext cx="438912" cy="438912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2" name="Tools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569" y="1513881"/>
            <a:ext cx="245791" cy="24579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041648" y="1399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Explore funds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041648" y="16550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All plans, more on Growth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3493008" y="2057400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Fund search with latest NAV</a:t>
            </a:r>
            <a:pPr indent="0" marL="0">
              <a:spcAft>
                <a:spcPts val="500"/>
              </a:spcAft>
              <a:buNone/>
            </a:pP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“What if I had invested” returns</a:t>
            </a:r>
            <a:pPr indent="0" marL="0">
              <a:spcAft>
                <a:spcPts val="500"/>
              </a:spcAft>
              <a:buNone/>
            </a:pP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XIRR calculator</a:t>
            </a:r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2"/>
                </a:solidFill>
              </a:rPr>
              <a:t>  Growth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Fund comparison</a:t>
            </a:r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2"/>
                </a:solidFill>
              </a:rPr>
              <a:t>  Growth *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Category explorer</a:t>
            </a:r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2"/>
                </a:solidFill>
              </a:rPr>
              <a:t>  Growth *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Risk-profile questionnaire</a:t>
            </a:r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2"/>
                </a:solidFill>
              </a:rPr>
              <a:t>  Growth *</a:t>
            </a:r>
            <a:endParaRPr lang="en-US" sz="1250" dirty="0"/>
          </a:p>
        </p:txBody>
      </p:sp>
      <p:sp>
        <p:nvSpPr>
          <p:cNvPr id="16" name="Tools Review my portfolio"/>
          <p:cNvSpPr/>
          <p:nvPr/>
        </p:nvSpPr>
        <p:spPr>
          <a:xfrm>
            <a:off x="6035040" y="1234440"/>
            <a:ext cx="2560320" cy="2651760"/>
          </a:xfrm>
          <a:prstGeom prst="roundRect">
            <a:avLst>
              <a:gd name="adj" fmla="val 2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ools 3 icon tile"/>
          <p:cNvSpPr/>
          <p:nvPr/>
        </p:nvSpPr>
        <p:spPr>
          <a:xfrm>
            <a:off x="6236208" y="1417320"/>
            <a:ext cx="438912" cy="438912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8" name="Tools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769" y="1513881"/>
            <a:ext cx="245791" cy="245791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784848" y="1399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Review my portfolio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784848" y="16550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Pro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6236208" y="2057400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Upload a CAMS/KFintech statement</a:t>
            </a:r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2"/>
                </a:solidFill>
              </a:rPr>
              <a:t>  *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Asset allocation and gaps</a:t>
            </a:r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2"/>
                </a:solidFill>
              </a:rPr>
              <a:t>  *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Portfolio overlap check</a:t>
            </a:r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2"/>
                </a:solidFill>
              </a:rPr>
              <a:t>  *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Detailed report for investor and you</a:t>
            </a:r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2"/>
                </a:solidFill>
              </a:rPr>
              <a:t>  *</a:t>
            </a:r>
            <a:endParaRPr lang="en-US" sz="1250" dirty="0"/>
          </a:p>
        </p:txBody>
      </p:sp>
      <p:sp>
        <p:nvSpPr>
          <p:cNvPr id="22" name="Tools lead band"/>
          <p:cNvSpPr/>
          <p:nvPr/>
        </p:nvSpPr>
        <p:spPr>
          <a:xfrm>
            <a:off x="548640" y="4005072"/>
            <a:ext cx="8046720" cy="4572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3" name="Tools band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96512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143000" y="40050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Every result ends with “Discuss this with your distributor” — straight into your lead inbox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448056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NAV data from AMFI, with source and date on every result. No rankings or recommendations.   * Coming soon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7548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Your console: run your digital business in one place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chemeClr val="accent1"/>
                </a:solidFill>
              </a:rPr>
              <a:t>ADMIN CONSOLE</a:t>
            </a:r>
            <a:endParaRPr lang="en-US" sz="1050" dirty="0"/>
          </a:p>
        </p:txBody>
      </p:sp>
      <p:sp>
        <p:nvSpPr>
          <p:cNvPr id="4" name="Console Dashboard icon tile"/>
          <p:cNvSpPr/>
          <p:nvPr/>
        </p:nvSpPr>
        <p:spPr>
          <a:xfrm>
            <a:off x="548640" y="1234440"/>
            <a:ext cx="365760" cy="36576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Console Dashboard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" y="1314907"/>
            <a:ext cx="204826" cy="20482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24128" y="121615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Dashboard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024128" y="142646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Visitors, enquiries, conversations, meetings</a:t>
            </a:r>
            <a:endParaRPr lang="en-US" sz="1150" dirty="0"/>
          </a:p>
        </p:txBody>
      </p:sp>
      <p:sp>
        <p:nvSpPr>
          <p:cNvPr id="8" name="Console Site &amp; content icon tile"/>
          <p:cNvSpPr/>
          <p:nvPr/>
        </p:nvSpPr>
        <p:spPr>
          <a:xfrm>
            <a:off x="548640" y="1700784"/>
            <a:ext cx="365760" cy="36576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9" name="Console Site &amp; content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" y="1781251"/>
            <a:ext cx="204826" cy="20482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24128" y="168249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Site &amp; content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1024128" y="189280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Pages, blog, announcements, media</a:t>
            </a:r>
            <a:endParaRPr lang="en-US" sz="1150" dirty="0"/>
          </a:p>
        </p:txBody>
      </p:sp>
      <p:sp>
        <p:nvSpPr>
          <p:cNvPr id="12" name="Console SEO &amp; AEO icon tile"/>
          <p:cNvSpPr/>
          <p:nvPr/>
        </p:nvSpPr>
        <p:spPr>
          <a:xfrm>
            <a:off x="548640" y="2167128"/>
            <a:ext cx="365760" cy="36576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3" name="Console SEO &amp; AEO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" y="2247595"/>
            <a:ext cx="204826" cy="20482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24128" y="21488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SEO &amp; AEO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1024128" y="235915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Titles, sitemap, schema, FAQ library</a:t>
            </a:r>
            <a:endParaRPr lang="en-US" sz="1150" dirty="0"/>
          </a:p>
        </p:txBody>
      </p:sp>
      <p:sp>
        <p:nvSpPr>
          <p:cNvPr id="16" name="Console Leads icon tile"/>
          <p:cNvSpPr/>
          <p:nvPr/>
        </p:nvSpPr>
        <p:spPr>
          <a:xfrm>
            <a:off x="548640" y="2633472"/>
            <a:ext cx="365760" cy="36576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7" name="Console Leads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" y="2713939"/>
            <a:ext cx="204826" cy="20482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24128" y="261518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Leads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1024128" y="282549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Status, notes, reminders, export</a:t>
            </a:r>
            <a:endParaRPr lang="en-US" sz="1150" dirty="0"/>
          </a:p>
        </p:txBody>
      </p:sp>
      <p:sp>
        <p:nvSpPr>
          <p:cNvPr id="20" name="Console AI assistant icon tile"/>
          <p:cNvSpPr/>
          <p:nvPr/>
        </p:nvSpPr>
        <p:spPr>
          <a:xfrm>
            <a:off x="548640" y="3099816"/>
            <a:ext cx="365760" cy="36576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1" name="Console AI assistant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" y="3180283"/>
            <a:ext cx="204826" cy="20482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24128" y="30815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AI assistant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1024128" y="32918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Approved answers, tone, languages, handoff</a:t>
            </a:r>
            <a:endParaRPr lang="en-US" sz="1150" dirty="0"/>
          </a:p>
        </p:txBody>
      </p:sp>
      <p:sp>
        <p:nvSpPr>
          <p:cNvPr id="24" name="Console Compliance icon tile"/>
          <p:cNvSpPr/>
          <p:nvPr/>
        </p:nvSpPr>
        <p:spPr>
          <a:xfrm>
            <a:off x="548640" y="3566160"/>
            <a:ext cx="365760" cy="36576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5" name="Console Compliance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" y="3646627"/>
            <a:ext cx="204826" cy="20482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024128" y="35478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Compliance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1024128" y="375818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ARN status, disclaimers, consent log</a:t>
            </a:r>
            <a:endParaRPr lang="en-US" sz="1150" dirty="0"/>
          </a:p>
        </p:txBody>
      </p:sp>
      <p:sp>
        <p:nvSpPr>
          <p:cNvPr id="28" name="Console Billing &amp; wallet icon tile"/>
          <p:cNvSpPr/>
          <p:nvPr/>
        </p:nvSpPr>
        <p:spPr>
          <a:xfrm>
            <a:off x="548640" y="4032504"/>
            <a:ext cx="365760" cy="36576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9" name="Console Billing &amp; wallet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107" y="4112971"/>
            <a:ext cx="204826" cy="204826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024128" y="401421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Billing &amp; wallet</a:t>
            </a:r>
            <a:endParaRPr lang="en-US" sz="1300" dirty="0"/>
          </a:p>
        </p:txBody>
      </p:sp>
      <p:sp>
        <p:nvSpPr>
          <p:cNvPr id="31" name="Text 22"/>
          <p:cNvSpPr txBox="1"/>
          <p:nvPr/>
        </p:nvSpPr>
        <p:spPr>
          <a:xfrm>
            <a:off x="1024128" y="422452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Plan, invoices, AI usage by channel</a:t>
            </a:r>
            <a:endParaRPr lang="en-US" sz="1150" dirty="0"/>
          </a:p>
        </p:txBody>
      </p:sp>
      <p:sp>
        <p:nvSpPr>
          <p:cNvPr id="32" name="Dashboard mock"/>
          <p:cNvSpPr/>
          <p:nvPr/>
        </p:nvSpPr>
        <p:spPr>
          <a:xfrm>
            <a:off x="4343400" y="1234440"/>
            <a:ext cx="4251960" cy="3246120"/>
          </a:xfrm>
          <a:prstGeom prst="roundRect">
            <a:avLst>
              <a:gd name="adj" fmla="val 1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24"/>
          <p:cNvSpPr txBox="1"/>
          <p:nvPr/>
        </p:nvSpPr>
        <p:spPr>
          <a:xfrm>
            <a:off x="4526280" y="13441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chemeClr val="tx2"/>
                </a:solidFill>
              </a:rPr>
              <a:t>Sample dashboard · illustrative data</a:t>
            </a:r>
            <a:endParaRPr lang="en-US" sz="950" dirty="0"/>
          </a:p>
        </p:txBody>
      </p:sp>
      <p:sp>
        <p:nvSpPr>
          <p:cNvPr id="34" name="Stat 1"/>
          <p:cNvSpPr/>
          <p:nvPr/>
        </p:nvSpPr>
        <p:spPr>
          <a:xfrm>
            <a:off x="4526280" y="1618488"/>
            <a:ext cx="896112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5" name="Text 26"/>
          <p:cNvSpPr txBox="1"/>
          <p:nvPr/>
        </p:nvSpPr>
        <p:spPr>
          <a:xfrm>
            <a:off x="4526280" y="1673352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1,240</a:t>
            </a:r>
            <a:endParaRPr lang="en-US" sz="1800" dirty="0"/>
          </a:p>
        </p:txBody>
      </p:sp>
      <p:sp>
        <p:nvSpPr>
          <p:cNvPr id="36" name="Text 27"/>
          <p:cNvSpPr txBox="1"/>
          <p:nvPr/>
        </p:nvSpPr>
        <p:spPr>
          <a:xfrm>
            <a:off x="4562856" y="203911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Visitors</a:t>
            </a:r>
            <a:endParaRPr lang="en-US" sz="900" dirty="0"/>
          </a:p>
        </p:txBody>
      </p:sp>
      <p:sp>
        <p:nvSpPr>
          <p:cNvPr id="37" name="Stat 2"/>
          <p:cNvSpPr/>
          <p:nvPr/>
        </p:nvSpPr>
        <p:spPr>
          <a:xfrm>
            <a:off x="5513832" y="1618488"/>
            <a:ext cx="896112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8" name="Text 29"/>
          <p:cNvSpPr txBox="1"/>
          <p:nvPr/>
        </p:nvSpPr>
        <p:spPr>
          <a:xfrm>
            <a:off x="5513832" y="1673352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38</a:t>
            </a:r>
            <a:endParaRPr lang="en-US" sz="1800" dirty="0"/>
          </a:p>
        </p:txBody>
      </p:sp>
      <p:sp>
        <p:nvSpPr>
          <p:cNvPr id="39" name="Text 30"/>
          <p:cNvSpPr txBox="1"/>
          <p:nvPr/>
        </p:nvSpPr>
        <p:spPr>
          <a:xfrm>
            <a:off x="5550408" y="203911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Enquiries</a:t>
            </a:r>
            <a:endParaRPr lang="en-US" sz="900" dirty="0"/>
          </a:p>
        </p:txBody>
      </p:sp>
      <p:sp>
        <p:nvSpPr>
          <p:cNvPr id="40" name="Stat 3"/>
          <p:cNvSpPr/>
          <p:nvPr/>
        </p:nvSpPr>
        <p:spPr>
          <a:xfrm>
            <a:off x="6501384" y="1618488"/>
            <a:ext cx="896112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1" name="Text 32"/>
          <p:cNvSpPr txBox="1"/>
          <p:nvPr/>
        </p:nvSpPr>
        <p:spPr>
          <a:xfrm>
            <a:off x="6501384" y="1673352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212</a:t>
            </a:r>
            <a:endParaRPr lang="en-US" sz="1800" dirty="0"/>
          </a:p>
        </p:txBody>
      </p:sp>
      <p:sp>
        <p:nvSpPr>
          <p:cNvPr id="42" name="Text 33"/>
          <p:cNvSpPr txBox="1"/>
          <p:nvPr/>
        </p:nvSpPr>
        <p:spPr>
          <a:xfrm>
            <a:off x="6537960" y="203911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AI conversations</a:t>
            </a:r>
            <a:endParaRPr lang="en-US" sz="900" dirty="0"/>
          </a:p>
        </p:txBody>
      </p:sp>
      <p:sp>
        <p:nvSpPr>
          <p:cNvPr id="43" name="Stat 4"/>
          <p:cNvSpPr/>
          <p:nvPr/>
        </p:nvSpPr>
        <p:spPr>
          <a:xfrm>
            <a:off x="7488936" y="1618488"/>
            <a:ext cx="896112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7488936" y="1673352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14</a:t>
            </a:r>
            <a:endParaRPr lang="en-US" sz="1800" dirty="0"/>
          </a:p>
        </p:txBody>
      </p:sp>
      <p:sp>
        <p:nvSpPr>
          <p:cNvPr id="45" name="Text 36"/>
          <p:cNvSpPr txBox="1"/>
          <p:nvPr/>
        </p:nvSpPr>
        <p:spPr>
          <a:xfrm>
            <a:off x="7525512" y="203911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Meetings</a:t>
            </a:r>
            <a:endParaRPr lang="en-US" sz="900" dirty="0"/>
          </a:p>
        </p:txBody>
      </p:sp>
      <p:graphicFrame>
        <p:nvGraphicFramePr>
          <p:cNvPr id="46" name="Sample chart" descr=""/>
          <p:cNvGraphicFramePr/>
          <p:nvPr/>
        </p:nvGraphicFramePr>
        <p:xfrm>
          <a:off x="4526280" y="2468880"/>
          <a:ext cx="388620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7548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Compliance is built in, not bolted 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chemeClr val="accent1"/>
                </a:solidFill>
              </a:rPr>
              <a:t>COMPLIANCE</a:t>
            </a:r>
            <a:endParaRPr lang="en-US" sz="1050" dirty="0"/>
          </a:p>
        </p:txBody>
      </p:sp>
      <p:sp>
        <p:nvSpPr>
          <p:cNvPr id="4" name="Compliance 1"/>
          <p:cNvSpPr/>
          <p:nvPr/>
        </p:nvSpPr>
        <p:spPr>
          <a:xfrm>
            <a:off x="548640" y="1234440"/>
            <a:ext cx="2560320" cy="1444752"/>
          </a:xfrm>
          <a:prstGeom prst="roundRect">
            <a:avLst>
              <a:gd name="adj" fmla="val 37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ompliance 1 icon tile"/>
          <p:cNvSpPr/>
          <p:nvPr/>
        </p:nvSpPr>
        <p:spPr>
          <a:xfrm>
            <a:off x="749808" y="1435608"/>
            <a:ext cx="411480" cy="411480"/>
          </a:xfrm>
          <a:prstGeom prst="roundRect">
            <a:avLst>
              <a:gd name="adj" fmla="val 1777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mplianc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334" y="1526134"/>
            <a:ext cx="230429" cy="23042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43560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Identity lock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96596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Your name, ARN and the “AMFI-registered Mutual Fund Distributor” tagline on every page.</a:t>
            </a:r>
            <a:endParaRPr lang="en-US" sz="1200" dirty="0"/>
          </a:p>
        </p:txBody>
      </p:sp>
      <p:sp>
        <p:nvSpPr>
          <p:cNvPr id="9" name="Compliance 2"/>
          <p:cNvSpPr/>
          <p:nvPr/>
        </p:nvSpPr>
        <p:spPr>
          <a:xfrm>
            <a:off x="3291840" y="1234440"/>
            <a:ext cx="2560320" cy="1444752"/>
          </a:xfrm>
          <a:prstGeom prst="roundRect">
            <a:avLst>
              <a:gd name="adj" fmla="val 37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ompliance 2 icon tile"/>
          <p:cNvSpPr/>
          <p:nvPr/>
        </p:nvSpPr>
        <p:spPr>
          <a:xfrm>
            <a:off x="3493008" y="1435608"/>
            <a:ext cx="411480" cy="411480"/>
          </a:xfrm>
          <a:prstGeom prst="roundRect">
            <a:avLst>
              <a:gd name="adj" fmla="val 1777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1" name="Complianc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534" y="1526134"/>
            <a:ext cx="230429" cy="23042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23360" y="143560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ARN renewal alerts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493008" y="196596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Your console warns you well before your ARN is due for renewal.</a:t>
            </a:r>
            <a:endParaRPr lang="en-US" sz="1200" dirty="0"/>
          </a:p>
        </p:txBody>
      </p:sp>
      <p:sp>
        <p:nvSpPr>
          <p:cNvPr id="14" name="Compliance 3"/>
          <p:cNvSpPr/>
          <p:nvPr/>
        </p:nvSpPr>
        <p:spPr>
          <a:xfrm>
            <a:off x="6035040" y="1234440"/>
            <a:ext cx="2560320" cy="1444752"/>
          </a:xfrm>
          <a:prstGeom prst="roundRect">
            <a:avLst>
              <a:gd name="adj" fmla="val 37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ompliance 3 icon tile"/>
          <p:cNvSpPr/>
          <p:nvPr/>
        </p:nvSpPr>
        <p:spPr>
          <a:xfrm>
            <a:off x="6236208" y="1435608"/>
            <a:ext cx="411480" cy="411480"/>
          </a:xfrm>
          <a:prstGeom prst="roundRect">
            <a:avLst>
              <a:gd name="adj" fmla="val 1777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6" name="Complianc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6734" y="1526134"/>
            <a:ext cx="230429" cy="23042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766560" y="143560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Restricted-terms checker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236208" y="196596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Blocks words like “adviser” or “wealth manager” in names, pages and AI drafts.</a:t>
            </a:r>
            <a:endParaRPr lang="en-US" sz="1200" dirty="0"/>
          </a:p>
        </p:txBody>
      </p:sp>
      <p:sp>
        <p:nvSpPr>
          <p:cNvPr id="19" name="Compliance 4"/>
          <p:cNvSpPr/>
          <p:nvPr/>
        </p:nvSpPr>
        <p:spPr>
          <a:xfrm>
            <a:off x="548640" y="2807208"/>
            <a:ext cx="2560320" cy="1444752"/>
          </a:xfrm>
          <a:prstGeom prst="roundRect">
            <a:avLst>
              <a:gd name="adj" fmla="val 37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Compliance 4 icon tile"/>
          <p:cNvSpPr/>
          <p:nvPr/>
        </p:nvSpPr>
        <p:spPr>
          <a:xfrm>
            <a:off x="749808" y="3008376"/>
            <a:ext cx="411480" cy="411480"/>
          </a:xfrm>
          <a:prstGeom prst="roundRect">
            <a:avLst>
              <a:gd name="adj" fmla="val 1777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1" name="Complianc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334" y="3098902"/>
            <a:ext cx="230429" cy="23042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80160" y="300837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Disclaimers everywhere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749808" y="353872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Market-risk disclaimer on every page; assumptions beside every calculator result.</a:t>
            </a:r>
            <a:endParaRPr lang="en-US" sz="1200" dirty="0"/>
          </a:p>
        </p:txBody>
      </p:sp>
      <p:sp>
        <p:nvSpPr>
          <p:cNvPr id="24" name="Compliance 5"/>
          <p:cNvSpPr/>
          <p:nvPr/>
        </p:nvSpPr>
        <p:spPr>
          <a:xfrm>
            <a:off x="3291840" y="2807208"/>
            <a:ext cx="2560320" cy="1444752"/>
          </a:xfrm>
          <a:prstGeom prst="roundRect">
            <a:avLst>
              <a:gd name="adj" fmla="val 37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Compliance 5 icon tile"/>
          <p:cNvSpPr/>
          <p:nvPr/>
        </p:nvSpPr>
        <p:spPr>
          <a:xfrm>
            <a:off x="3493008" y="3008376"/>
            <a:ext cx="411480" cy="411480"/>
          </a:xfrm>
          <a:prstGeom prst="roundRect">
            <a:avLst>
              <a:gd name="adj" fmla="val 1777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6" name="Compliance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3534" y="3098902"/>
            <a:ext cx="230429" cy="230429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023360" y="300837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 guardrails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3493008" y="353872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Answers only from approved content. Never recommends schemes or projects returns.</a:t>
            </a:r>
            <a:endParaRPr lang="en-US" sz="1200" dirty="0"/>
          </a:p>
        </p:txBody>
      </p:sp>
      <p:sp>
        <p:nvSpPr>
          <p:cNvPr id="29" name="Compliance 6"/>
          <p:cNvSpPr/>
          <p:nvPr/>
        </p:nvSpPr>
        <p:spPr>
          <a:xfrm>
            <a:off x="6035040" y="2807208"/>
            <a:ext cx="2560320" cy="1444752"/>
          </a:xfrm>
          <a:prstGeom prst="roundRect">
            <a:avLst>
              <a:gd name="adj" fmla="val 37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Compliance 6 icon tile"/>
          <p:cNvSpPr/>
          <p:nvPr/>
        </p:nvSpPr>
        <p:spPr>
          <a:xfrm>
            <a:off x="6236208" y="3008376"/>
            <a:ext cx="411480" cy="411480"/>
          </a:xfrm>
          <a:prstGeom prst="roundRect">
            <a:avLst>
              <a:gd name="adj" fmla="val 1777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1" name="Compliance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6734" y="3098902"/>
            <a:ext cx="230429" cy="230429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766560" y="300837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Approval &amp; consent trail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6236208" y="353872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Nothing publishes without your approval. Consent is logged for every enquiry.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441655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Designed around AMFI's Code of Conduct for MFDs. You remain responsible for your communication; the platform makes compliance the default.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9202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Plans and pricing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97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Three plans · one-time fee · yearly AMC · AI usage from a prepaid wallet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7548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Three plans, set up for you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chemeClr val="accent1"/>
                </a:solidFill>
              </a:rPr>
              <a:t>PLANS AND PRICING</a:t>
            </a:r>
            <a:endParaRPr lang="en-US" sz="1050" dirty="0"/>
          </a:p>
        </p:txBody>
      </p:sp>
      <p:sp>
        <p:nvSpPr>
          <p:cNvPr id="4" name="Plan Essential"/>
          <p:cNvSpPr/>
          <p:nvPr/>
        </p:nvSpPr>
        <p:spPr>
          <a:xfrm>
            <a:off x="548640" y="1188720"/>
            <a:ext cx="2560320" cy="3108960"/>
          </a:xfrm>
          <a:prstGeom prst="roundRect">
            <a:avLst>
              <a:gd name="adj" fmla="val 2143"/>
            </a:avLst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533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Essential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6916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List </a:t>
            </a:r>
            <a:pPr indent="0" marL="0">
              <a:buNone/>
            </a:pPr>
            <a:r>
              <a:rPr lang="en-US" sz="1050" strike="sngStrike" dirty="0">
                <a:solidFill>
                  <a:schemeClr val="tx2"/>
                </a:solidFill>
              </a:rPr>
              <a:t>₹64,999</a:t>
            </a:r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   Launch price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88366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₹49,999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7744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one-time  ·  AMC </a:t>
            </a:r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₹15,000</a:t>
            </a:r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/yr from year 2</a:t>
            </a:r>
            <a:endParaRPr lang="en-US" sz="1050" dirty="0"/>
          </a:p>
        </p:txBody>
      </p:sp>
      <p:sp>
        <p:nvSpPr>
          <p:cNvPr id="9" name="Plan divider Essential"/>
          <p:cNvSpPr/>
          <p:nvPr/>
        </p:nvSpPr>
        <p:spPr>
          <a:xfrm>
            <a:off x="777240" y="2670048"/>
            <a:ext cx="21031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761488"/>
            <a:ext cx="2240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Website up to 8 pages</a:t>
            </a:r>
            <a:endParaRPr lang="en-US" sz="115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Built for you, with onboarding</a:t>
            </a:r>
            <a:endParaRPr lang="en-US" sz="115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Calculators, fund search, NAV</a:t>
            </a:r>
            <a:endParaRPr lang="en-US" sz="115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Enquiry form and lead inbox</a:t>
            </a:r>
            <a:endParaRPr lang="en-US" sz="115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SEO basics</a:t>
            </a:r>
            <a:endParaRPr lang="en-US" sz="115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Compliance pack</a:t>
            </a:r>
            <a:endParaRPr lang="en-US" sz="115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1 user · email support</a:t>
            </a:r>
            <a:endParaRPr lang="en-US" sz="1150" dirty="0"/>
          </a:p>
        </p:txBody>
      </p:sp>
      <p:sp>
        <p:nvSpPr>
          <p:cNvPr id="11" name="Plan Growth"/>
          <p:cNvSpPr/>
          <p:nvPr/>
        </p:nvSpPr>
        <p:spPr>
          <a:xfrm>
            <a:off x="3291840" y="1188720"/>
            <a:ext cx="2560320" cy="3108960"/>
          </a:xfrm>
          <a:prstGeom prst="roundRect">
            <a:avLst>
              <a:gd name="adj" fmla="val 2143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2" name="Most popular"/>
          <p:cNvSpPr/>
          <p:nvPr/>
        </p:nvSpPr>
        <p:spPr>
          <a:xfrm>
            <a:off x="4709160" y="1371600"/>
            <a:ext cx="960120" cy="246888"/>
          </a:xfrm>
          <a:prstGeom prst="roundRect">
            <a:avLst>
              <a:gd name="adj" fmla="val 4814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09160" y="1371600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Most popular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13533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Growth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16916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List </a:t>
            </a:r>
            <a:pPr indent="0" marL="0">
              <a:buNone/>
            </a:pPr>
            <a:r>
              <a:rPr lang="en-US" sz="1050" strike="sngStrike" dirty="0">
                <a:solidFill>
                  <a:schemeClr val="tx2"/>
                </a:solidFill>
              </a:rPr>
              <a:t>₹1,29,999</a:t>
            </a:r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   Launch price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188366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₹99,999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3520440" y="237744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one-time  ·  AMC </a:t>
            </a:r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₹30,000</a:t>
            </a:r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/yr from year 2</a:t>
            </a:r>
            <a:endParaRPr lang="en-US" sz="1050" dirty="0"/>
          </a:p>
        </p:txBody>
      </p:sp>
      <p:sp>
        <p:nvSpPr>
          <p:cNvPr id="18" name="Plan divider Growth"/>
          <p:cNvSpPr/>
          <p:nvPr/>
        </p:nvSpPr>
        <p:spPr>
          <a:xfrm>
            <a:off x="3520440" y="2670048"/>
            <a:ext cx="21031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20440" y="2761488"/>
            <a:ext cx="2240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Everything in Essential</a:t>
            </a:r>
            <a:endParaRPr lang="en-US" sz="115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Up to 15 pages and blog</a:t>
            </a:r>
            <a:endParaRPr lang="en-US" sz="115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Fund comparison * and XIRR</a:t>
            </a:r>
            <a:endParaRPr lang="en-US" sz="115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Website AI chat, WhatsApp *</a:t>
            </a:r>
            <a:endParaRPr lang="en-US" sz="115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Meeting booking * and reminders</a:t>
            </a:r>
            <a:endParaRPr lang="en-US" sz="115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AEO toolkit, monthly report *</a:t>
            </a:r>
            <a:endParaRPr lang="en-US" sz="115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₹500/month AI credit · 3 users</a:t>
            </a:r>
            <a:endParaRPr lang="en-US" sz="1150" dirty="0"/>
          </a:p>
        </p:txBody>
      </p:sp>
      <p:sp>
        <p:nvSpPr>
          <p:cNvPr id="20" name="Plan Pro"/>
          <p:cNvSpPr/>
          <p:nvPr/>
        </p:nvSpPr>
        <p:spPr>
          <a:xfrm>
            <a:off x="6035040" y="1188720"/>
            <a:ext cx="2560320" cy="3108960"/>
          </a:xfrm>
          <a:prstGeom prst="roundRect">
            <a:avLst>
              <a:gd name="adj" fmla="val 2143"/>
            </a:avLst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63640" y="13533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Pro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16916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List </a:t>
            </a:r>
            <a:pPr indent="0" marL="0">
              <a:buNone/>
            </a:pPr>
            <a:r>
              <a:rPr lang="en-US" sz="1050" strike="sngStrike" dirty="0">
                <a:solidFill>
                  <a:schemeClr val="tx2"/>
                </a:solidFill>
              </a:rPr>
              <a:t>₹1,93,999</a:t>
            </a:r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   Launch price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188366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₹1,49,000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237744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one-time  ·  AMC </a:t>
            </a:r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₹44,700</a:t>
            </a:r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/yr from year 2</a:t>
            </a:r>
            <a:endParaRPr lang="en-US" sz="1050" dirty="0"/>
          </a:p>
        </p:txBody>
      </p:sp>
      <p:sp>
        <p:nvSpPr>
          <p:cNvPr id="25" name="Plan divider Pro"/>
          <p:cNvSpPr/>
          <p:nvPr/>
        </p:nvSpPr>
        <p:spPr>
          <a:xfrm>
            <a:off x="6263640" y="2670048"/>
            <a:ext cx="21031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63640" y="2761488"/>
            <a:ext cx="2240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Everything in Growth</a:t>
            </a:r>
            <a:endParaRPr lang="en-US" sz="115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Up to 25 pages</a:t>
            </a:r>
            <a:endParaRPr lang="en-US" sz="115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Website voice and phone AI *</a:t>
            </a:r>
            <a:endParaRPr lang="en-US" sz="115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CAS portfolio review *</a:t>
            </a:r>
            <a:endParaRPr lang="en-US" sz="115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Email nurture, Instagram DMs *</a:t>
            </a:r>
            <a:endParaRPr lang="en-US" sz="115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Content agent *, EUIN team pages</a:t>
            </a:r>
            <a:endParaRPr lang="en-US" sz="115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₹1,500/month AI credit · 10 users</a:t>
            </a:r>
            <a:endParaRPr lang="en-US" sz="1150" dirty="0"/>
          </a:p>
        </p:txBody>
      </p:sp>
      <p:sp>
        <p:nvSpPr>
          <p:cNvPr id="27" name="Terms strip"/>
          <p:cNvSpPr/>
          <p:nvPr/>
        </p:nvSpPr>
        <p:spPr>
          <a:xfrm>
            <a:off x="548640" y="4370832"/>
            <a:ext cx="8046720" cy="27432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43708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Launch prices for orders confirmed on the webinar day</a:t>
            </a:r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  ·  100% advance  ·  AMC 30% of fee paid, from year 2  ·  Taxes extra  ·  * Coming soon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7548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Pay only for the AI you use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chemeClr val="accent1"/>
                </a:solidFill>
              </a:rPr>
              <a:t>AI USAGE</a:t>
            </a:r>
            <a:endParaRPr lang="en-US" sz="1050" dirty="0"/>
          </a:p>
        </p:txBody>
      </p:sp>
      <p:sp>
        <p:nvSpPr>
          <p:cNvPr id="4" name="Wallet 1 icon tile"/>
          <p:cNvSpPr/>
          <p:nvPr/>
        </p:nvSpPr>
        <p:spPr>
          <a:xfrm>
            <a:off x="548640" y="1261872"/>
            <a:ext cx="438912" cy="438912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Wallet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201" y="1358433"/>
            <a:ext cx="245791" cy="2457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2435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Included credit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1508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Growth gets ₹500 and Pro ₹1,500 of AI credit every month</a:t>
            </a:r>
            <a:endParaRPr lang="en-US" sz="1200" dirty="0"/>
          </a:p>
        </p:txBody>
      </p:sp>
      <p:sp>
        <p:nvSpPr>
          <p:cNvPr id="8" name="Wallet 2 icon tile"/>
          <p:cNvSpPr/>
          <p:nvPr/>
        </p:nvSpPr>
        <p:spPr>
          <a:xfrm>
            <a:off x="548640" y="2048256"/>
            <a:ext cx="438912" cy="438912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9" name="Wallet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01" y="2144817"/>
            <a:ext cx="245791" cy="24579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20299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Top up any amount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229514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Prepaid wallet in rupees — nothing billed beyond your balance</a:t>
            </a:r>
            <a:endParaRPr lang="en-US" sz="1200" dirty="0"/>
          </a:p>
        </p:txBody>
      </p:sp>
      <p:sp>
        <p:nvSpPr>
          <p:cNvPr id="12" name="Wallet 3 icon tile"/>
          <p:cNvSpPr/>
          <p:nvPr/>
        </p:nvSpPr>
        <p:spPr>
          <a:xfrm>
            <a:off x="548640" y="2834640"/>
            <a:ext cx="438912" cy="438912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3" name="Wallet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01" y="2931201"/>
            <a:ext cx="245791" cy="24579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43000" y="28163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Low-balance alerts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143000" y="308152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We alert you before the wallet runs low</a:t>
            </a:r>
            <a:endParaRPr lang="en-US" sz="1200" dirty="0"/>
          </a:p>
        </p:txBody>
      </p:sp>
      <p:sp>
        <p:nvSpPr>
          <p:cNvPr id="16" name="Wallet 4 icon tile"/>
          <p:cNvSpPr/>
          <p:nvPr/>
        </p:nvSpPr>
        <p:spPr>
          <a:xfrm>
            <a:off x="548640" y="3621024"/>
            <a:ext cx="438912" cy="438912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7" name="Wallet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01" y="3717585"/>
            <a:ext cx="245791" cy="245791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43000" y="36027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Clear usage view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1143000" y="386791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See spend by channel: chat, WhatsApp, voice and phone</a:t>
            </a:r>
            <a:endParaRPr lang="en-US" sz="1200" dirty="0"/>
          </a:p>
        </p:txBody>
      </p:sp>
      <p:graphicFrame>
        <p:nvGraphicFramePr>
          <p:cNvPr id="12" name="Wallet rat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1234440"/>
          <a:ext cx="425196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201168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Usage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Wallet rate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44"/>
                          </a:solidFill>
                        </a:rPr>
                        <a:t>Chat conversation (website, WhatsApp, Instagram)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44"/>
                          </a:solidFill>
                        </a:rPr>
                        <a:t>₹12 per conversation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44"/>
                          </a:solidFill>
                        </a:rPr>
                        <a:t>Website voice assistant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44"/>
                          </a:solidFill>
                        </a:rPr>
                        <a:t>₹7 per minute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44"/>
                          </a:solidFill>
                        </a:rPr>
                        <a:t>Phone AI helpline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44"/>
                          </a:solidFill>
                        </a:rPr>
                        <a:t>₹9 per connected minute, telephony included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44"/>
                          </a:solidFill>
                        </a:rPr>
                        <a:t>WhatsApp fees charged by Meta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44"/>
                          </a:solidFill>
                        </a:rPr>
                        <a:t>At actuals, shown per message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Conversation definition"/>
          <p:cNvSpPr/>
          <p:nvPr/>
        </p:nvSpPr>
        <p:spPr>
          <a:xfrm>
            <a:off x="4343400" y="3703320"/>
            <a:ext cx="4251960" cy="777240"/>
          </a:xfrm>
          <a:prstGeom prst="roundRect">
            <a:avLst>
              <a:gd name="adj" fmla="val 705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4498848" y="370332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One conversation = a visitor's exchange with the assistant until 30 minutes of silence (24 hours at most). ₹500 of credit covers about 40 conversations.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7548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Optional services, when you want more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chemeClr val="accent1"/>
                </a:solidFill>
              </a:rPr>
              <a:t>OPTIONAL SERVICES</a:t>
            </a:r>
            <a:endParaRPr lang="en-US" sz="1050" dirty="0"/>
          </a:p>
        </p:txBody>
      </p:sp>
      <p:graphicFrame>
        <p:nvGraphicFramePr>
          <p:cNvPr id="13" name="Optional servic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611880"/>
                <a:gridCol w="23317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Service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What you get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Price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1F44"/>
                          </a:solidFill>
                        </a:rPr>
                        <a:t>Premium custom design</a:t>
                      </a:r>
                      <a:endParaRPr lang="en-US" sz="125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44"/>
                          </a:solidFill>
                        </a:rPr>
                        <a:t>A design made for your brand beyond the standard templates</a:t>
                      </a:r>
                      <a:endParaRPr lang="en-US" sz="125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1F44"/>
                          </a:solidFill>
                        </a:rPr>
                        <a:t>₹19,999 one-time</a:t>
                      </a:r>
                      <a:endParaRPr lang="en-US" sz="125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1F44"/>
                          </a:solidFill>
                        </a:rPr>
                        <a:t>Phone helpline number setup</a:t>
                      </a:r>
                      <a:endParaRPr lang="en-US" sz="125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44"/>
                          </a:solidFill>
                        </a:rPr>
                        <a:t>Number provisioning and AI helpline configuration (Pro)</a:t>
                      </a:r>
                      <a:endParaRPr lang="en-US" sz="125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1F44"/>
                          </a:solidFill>
                        </a:rPr>
                        <a:t>₹4,999 + number rental at cost</a:t>
                      </a:r>
                      <a:endParaRPr lang="en-US" sz="125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1F44"/>
                          </a:solidFill>
                        </a:rPr>
                        <a:t>Managed content</a:t>
                      </a:r>
                      <a:endParaRPr lang="en-US" sz="125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44"/>
                          </a:solidFill>
                        </a:rPr>
                        <a:t>Four investor-education posts a month, written for your approval</a:t>
                      </a:r>
                      <a:endParaRPr lang="en-US" sz="125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1F44"/>
                          </a:solidFill>
                        </a:rPr>
                        <a:t>₹2,999 per month</a:t>
                      </a:r>
                      <a:endParaRPr lang="en-US" sz="125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1F44"/>
                          </a:solidFill>
                        </a:rPr>
                        <a:t>Custom integration</a:t>
                      </a:r>
                      <a:endParaRPr lang="en-US" sz="125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44"/>
                          </a:solidFill>
                        </a:rPr>
                        <a:t>Connect your CRM or back-office tools, or automate a process</a:t>
                      </a:r>
                      <a:endParaRPr lang="en-US" sz="125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1F44"/>
                          </a:solidFill>
                        </a:rPr>
                        <a:t>From ₹25,000, scoped</a:t>
                      </a:r>
                      <a:endParaRPr lang="en-US" sz="125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ervices note"/>
          <p:cNvSpPr/>
          <p:nvPr/>
        </p:nvSpPr>
        <p:spPr>
          <a:xfrm>
            <a:off x="548640" y="4069080"/>
            <a:ext cx="8046720" cy="457200"/>
          </a:xfrm>
          <a:prstGeom prst="roundRect">
            <a:avLst>
              <a:gd name="adj" fmla="val 12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Services not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160520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4069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All optional — every plan already includes done-for-you setup and onboarding. Taxes as applicable.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7548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your one-time fee and yearly AMC cover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chemeClr val="accent1"/>
                </a:solidFill>
              </a:rPr>
              <a:t>WHAT'S INCLUDED</a:t>
            </a:r>
            <a:endParaRPr lang="en-US" sz="1050" dirty="0"/>
          </a:p>
        </p:txBody>
      </p:sp>
      <p:sp>
        <p:nvSpPr>
          <p:cNvPr id="4" name="One-time card"/>
          <p:cNvSpPr/>
          <p:nvPr/>
        </p:nvSpPr>
        <p:spPr>
          <a:xfrm>
            <a:off x="548640" y="1234440"/>
            <a:ext cx="3931920" cy="3246120"/>
          </a:xfrm>
          <a:prstGeom prst="roundRect">
            <a:avLst>
              <a:gd name="adj" fmla="val 1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AMC card"/>
          <p:cNvSpPr/>
          <p:nvPr/>
        </p:nvSpPr>
        <p:spPr>
          <a:xfrm>
            <a:off x="4663440" y="1234440"/>
            <a:ext cx="3931920" cy="3246120"/>
          </a:xfrm>
          <a:prstGeom prst="roundRect">
            <a:avLst>
              <a:gd name="adj" fmla="val 169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One-time icon tile"/>
          <p:cNvSpPr/>
          <p:nvPr/>
        </p:nvSpPr>
        <p:spPr>
          <a:xfrm>
            <a:off x="777240" y="1435608"/>
            <a:ext cx="420624" cy="420624"/>
          </a:xfrm>
          <a:prstGeom prst="roundRect">
            <a:avLst>
              <a:gd name="adj" fmla="val 173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One-tim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777" y="1528145"/>
            <a:ext cx="235549" cy="235549"/>
          </a:xfrm>
          <a:prstGeom prst="rect">
            <a:avLst/>
          </a:prstGeom>
        </p:spPr>
      </p:pic>
      <p:sp>
        <p:nvSpPr>
          <p:cNvPr id="8" name="AMC icon tile"/>
          <p:cNvSpPr/>
          <p:nvPr/>
        </p:nvSpPr>
        <p:spPr>
          <a:xfrm>
            <a:off x="4892040" y="1435608"/>
            <a:ext cx="420624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9" name="AMC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4577" y="1528145"/>
            <a:ext cx="235549" cy="23554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138988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One-time fee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Setup + year 1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440680" y="138988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Yearly AMC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30% of the fee paid, from year 2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2103120"/>
            <a:ext cx="3520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Discovery, onboarding and training</a:t>
            </a:r>
            <a:endParaRPr lang="en-US" sz="13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Site built in your branding from MFD templates</a:t>
            </a:r>
            <a:endParaRPr lang="en-US" sz="13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Pages as per plan: 8 / 15 / 25</a:t>
            </a:r>
            <a:endParaRPr lang="en-US" sz="13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Upload of your content, with 2 revision rounds</a:t>
            </a:r>
            <a:endParaRPr lang="en-US" sz="13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Modules and AI assistant set up as per plan</a:t>
            </a:r>
            <a:endParaRPr lang="en-US" sz="13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Year 1 hosting, support and platform access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892040" y="2103120"/>
            <a:ext cx="3520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Platform access and managed hosting (fair use)</a:t>
            </a:r>
            <a:endParaRPr lang="en-US" sz="13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SSL, backups and security patches</a:t>
            </a:r>
            <a:endParaRPr lang="en-US" sz="13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Bug fixes and upgrades to your plan's modules</a:t>
            </a:r>
            <a:endParaRPr lang="en-US" sz="13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Template updates when AMFI or SEBI rules change</a:t>
            </a:r>
            <a:endParaRPr lang="en-US" sz="13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Support as per your plan</a:t>
            </a:r>
            <a:endParaRPr lang="en-US" sz="13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Small edits by our team: 2 / 4 / 8 per month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7548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Charged separately, always quoted first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chemeClr val="accent1"/>
                </a:solidFill>
              </a:rPr>
              <a:t>OUTSIDE SCOPE</a:t>
            </a:r>
            <a:endParaRPr lang="en-US" sz="1050" dirty="0"/>
          </a:p>
        </p:txBody>
      </p:sp>
      <p:sp>
        <p:nvSpPr>
          <p:cNvPr id="4" name="Scope Website changes"/>
          <p:cNvSpPr/>
          <p:nvPr/>
        </p:nvSpPr>
        <p:spPr>
          <a:xfrm>
            <a:off x="548640" y="1234440"/>
            <a:ext cx="2560320" cy="2651760"/>
          </a:xfrm>
          <a:prstGeom prst="roundRect">
            <a:avLst>
              <a:gd name="adj" fmla="val 2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cope 1 icon tile"/>
          <p:cNvSpPr/>
          <p:nvPr/>
        </p:nvSpPr>
        <p:spPr>
          <a:xfrm>
            <a:off x="749808" y="1417320"/>
            <a:ext cx="420624" cy="420624"/>
          </a:xfrm>
          <a:prstGeom prst="roundRect">
            <a:avLst>
              <a:gd name="adj" fmla="val 1739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6" name="Scop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345" y="1509857"/>
            <a:ext cx="235549" cy="23554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41732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Website changes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01168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New pages beyond your plan</a:t>
            </a:r>
            <a:endParaRPr lang="en-US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New page layouts</a:t>
            </a:r>
            <a:endParaRPr lang="en-US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Redesign, revamp or rebranding</a:t>
            </a:r>
            <a:endParaRPr lang="en-US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Content migration from an old site</a:t>
            </a:r>
            <a:endParaRPr lang="en-US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Extra users, training or revisions</a:t>
            </a:r>
            <a:endParaRPr lang="en-US" sz="1200" dirty="0"/>
          </a:p>
        </p:txBody>
      </p:sp>
      <p:sp>
        <p:nvSpPr>
          <p:cNvPr id="9" name="Scope Technology and hosting"/>
          <p:cNvSpPr/>
          <p:nvPr/>
        </p:nvSpPr>
        <p:spPr>
          <a:xfrm>
            <a:off x="3291840" y="1234440"/>
            <a:ext cx="2560320" cy="2651760"/>
          </a:xfrm>
          <a:prstGeom prst="roundRect">
            <a:avLst>
              <a:gd name="adj" fmla="val 2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cope 2 icon tile"/>
          <p:cNvSpPr/>
          <p:nvPr/>
        </p:nvSpPr>
        <p:spPr>
          <a:xfrm>
            <a:off x="3493008" y="1417320"/>
            <a:ext cx="420624" cy="420624"/>
          </a:xfrm>
          <a:prstGeom prst="roundRect">
            <a:avLst>
              <a:gd name="adj" fmla="val 1739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1" name="Scop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545" y="1509857"/>
            <a:ext cx="235549" cy="23554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23360" y="141732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Technology and hosting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493008" y="201168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New integrations: CRM, back-office, payments, APIs</a:t>
            </a:r>
            <a:endParaRPr lang="en-US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New modules or custom features</a:t>
            </a:r>
            <a:endParaRPr lang="en-US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Dedicated or own-cloud hosting</a:t>
            </a:r>
            <a:endParaRPr lang="en-US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Storage or traffic beyond fair use</a:t>
            </a:r>
            <a:endParaRPr lang="en-US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Security audits on request</a:t>
            </a:r>
            <a:endParaRPr lang="en-US" sz="1200" dirty="0"/>
          </a:p>
        </p:txBody>
      </p:sp>
      <p:sp>
        <p:nvSpPr>
          <p:cNvPr id="14" name="Scope Third-party and content"/>
          <p:cNvSpPr/>
          <p:nvPr/>
        </p:nvSpPr>
        <p:spPr>
          <a:xfrm>
            <a:off x="6035040" y="1234440"/>
            <a:ext cx="2560320" cy="2651760"/>
          </a:xfrm>
          <a:prstGeom prst="roundRect">
            <a:avLst>
              <a:gd name="adj" fmla="val 2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cope 3 icon tile"/>
          <p:cNvSpPr/>
          <p:nvPr/>
        </p:nvSpPr>
        <p:spPr>
          <a:xfrm>
            <a:off x="6236208" y="1417320"/>
            <a:ext cx="420624" cy="420624"/>
          </a:xfrm>
          <a:prstGeom prst="roundRect">
            <a:avLst>
              <a:gd name="adj" fmla="val 1739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6" name="Scop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745" y="1509857"/>
            <a:ext cx="235549" cy="23554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766560" y="141732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Third-party and content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236208" y="201168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Domain and business email</a:t>
            </a:r>
            <a:endParaRPr lang="en-US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AI usage beyond included credit</a:t>
            </a:r>
            <a:endParaRPr lang="en-US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Meta, telephony, SMS and email fees</a:t>
            </a:r>
            <a:endParaRPr lang="en-US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Copywriting, translation, photo, video</a:t>
            </a:r>
            <a:endParaRPr lang="en-US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Paid ads, SEO campaigns, social media</a:t>
            </a:r>
            <a:endParaRPr lang="en-US" sz="1200" dirty="0"/>
          </a:p>
        </p:txBody>
      </p:sp>
      <p:sp>
        <p:nvSpPr>
          <p:cNvPr id="19" name="Change process band"/>
          <p:cNvSpPr/>
          <p:nvPr/>
        </p:nvSpPr>
        <p:spPr>
          <a:xfrm>
            <a:off x="548640" y="4005072"/>
            <a:ext cx="8046720" cy="475488"/>
          </a:xfrm>
          <a:prstGeom prst="roundRect">
            <a:avLst>
              <a:gd name="adj" fmla="val 1153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0" name="Change process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05656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43000" y="40050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Every change: written request  →  quote  →  your approval  →  work. Nothing is billed without approval.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7548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Commercial terms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chemeClr val="accent1"/>
                </a:solidFill>
              </a:rPr>
              <a:t>COMMERCIAL TERMS</a:t>
            </a:r>
            <a:endParaRPr lang="en-US" sz="1050" dirty="0"/>
          </a:p>
        </p:txBody>
      </p:sp>
      <p:sp>
        <p:nvSpPr>
          <p:cNvPr id="4" name="Term Launch offer"/>
          <p:cNvSpPr/>
          <p:nvPr/>
        </p:nvSpPr>
        <p:spPr>
          <a:xfrm>
            <a:off x="548640" y="1188720"/>
            <a:ext cx="3931920" cy="73152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rm 1 icon tile"/>
          <p:cNvSpPr/>
          <p:nvPr/>
        </p:nvSpPr>
        <p:spPr>
          <a:xfrm>
            <a:off x="713232" y="1344168"/>
            <a:ext cx="420624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Term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769" y="1436705"/>
            <a:ext cx="235549" cy="23554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27101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Launch offer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15087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Launch prices apply to orders confirmed on the webinar day. List prices apply after that.</a:t>
            </a:r>
            <a:endParaRPr lang="en-US" sz="1050" dirty="0"/>
          </a:p>
        </p:txBody>
      </p:sp>
      <p:sp>
        <p:nvSpPr>
          <p:cNvPr id="9" name="Term Payment"/>
          <p:cNvSpPr/>
          <p:nvPr/>
        </p:nvSpPr>
        <p:spPr>
          <a:xfrm>
            <a:off x="4663440" y="1188720"/>
            <a:ext cx="3931920" cy="73152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rm 2 icon tile"/>
          <p:cNvSpPr/>
          <p:nvPr/>
        </p:nvSpPr>
        <p:spPr>
          <a:xfrm>
            <a:off x="4828032" y="1344168"/>
            <a:ext cx="420624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1" name="Term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0569" y="1436705"/>
            <a:ext cx="235549" cy="23554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94960" y="127101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Payment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5394960" y="15087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100% advance, within 7 days of order confirmation. Onboarding starts once payment is received.</a:t>
            </a:r>
            <a:endParaRPr lang="en-US" sz="1050" dirty="0"/>
          </a:p>
        </p:txBody>
      </p:sp>
      <p:sp>
        <p:nvSpPr>
          <p:cNvPr id="14" name="Term Yearly AMC"/>
          <p:cNvSpPr/>
          <p:nvPr/>
        </p:nvSpPr>
        <p:spPr>
          <a:xfrm>
            <a:off x="548640" y="2011680"/>
            <a:ext cx="3931920" cy="73152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Term 3 icon tile"/>
          <p:cNvSpPr/>
          <p:nvPr/>
        </p:nvSpPr>
        <p:spPr>
          <a:xfrm>
            <a:off x="713232" y="2167128"/>
            <a:ext cx="420624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6" name="Term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769" y="2259665"/>
            <a:ext cx="235549" cy="23554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80160" y="209397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Yearly AMC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280160" y="23317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30% of the one-time fee paid, payable in advance from year 2. Rate fixed for the first two renewals.</a:t>
            </a:r>
            <a:endParaRPr lang="en-US" sz="1050" dirty="0"/>
          </a:p>
        </p:txBody>
      </p:sp>
      <p:sp>
        <p:nvSpPr>
          <p:cNvPr id="19" name="Term Change requests"/>
          <p:cNvSpPr/>
          <p:nvPr/>
        </p:nvSpPr>
        <p:spPr>
          <a:xfrm>
            <a:off x="4663440" y="2011680"/>
            <a:ext cx="3931920" cy="73152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rm 4 icon tile"/>
          <p:cNvSpPr/>
          <p:nvPr/>
        </p:nvSpPr>
        <p:spPr>
          <a:xfrm>
            <a:off x="4828032" y="2167128"/>
            <a:ext cx="420624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21" name="Term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0569" y="2259665"/>
            <a:ext cx="235549" cy="23554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394960" y="209397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Change requests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5394960" y="23317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Written request, written quote, your approval, then work. Nothing is billed without approval.</a:t>
            </a:r>
            <a:endParaRPr lang="en-US" sz="1050" dirty="0"/>
          </a:p>
        </p:txBody>
      </p:sp>
      <p:sp>
        <p:nvSpPr>
          <p:cNvPr id="24" name="Term Acceptance and delays"/>
          <p:cNvSpPr/>
          <p:nvPr/>
        </p:nvSpPr>
        <p:spPr>
          <a:xfrm>
            <a:off x="548640" y="2834640"/>
            <a:ext cx="393192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rm 5 icon tile"/>
          <p:cNvSpPr/>
          <p:nvPr/>
        </p:nvSpPr>
        <p:spPr>
          <a:xfrm>
            <a:off x="713232" y="2990088"/>
            <a:ext cx="420624" cy="420624"/>
          </a:xfrm>
          <a:prstGeom prst="roundRect">
            <a:avLst>
              <a:gd name="adj" fmla="val 173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6" name="Term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769" y="3082625"/>
            <a:ext cx="235549" cy="235549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280160" y="291693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Acceptance and delays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1280160" y="31546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Site is accepted at go-live, or 7 days after delivery without feedback. Content delays pause timelines.</a:t>
            </a:r>
            <a:endParaRPr lang="en-US" sz="1050" dirty="0"/>
          </a:p>
        </p:txBody>
      </p:sp>
      <p:sp>
        <p:nvSpPr>
          <p:cNvPr id="29" name="Term AMC lapse"/>
          <p:cNvSpPr/>
          <p:nvPr/>
        </p:nvSpPr>
        <p:spPr>
          <a:xfrm>
            <a:off x="4663440" y="2834640"/>
            <a:ext cx="393192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rm 6 icon tile"/>
          <p:cNvSpPr/>
          <p:nvPr/>
        </p:nvSpPr>
        <p:spPr>
          <a:xfrm>
            <a:off x="4828032" y="2990088"/>
            <a:ext cx="420624" cy="420624"/>
          </a:xfrm>
          <a:prstGeom prst="roundRect">
            <a:avLst>
              <a:gd name="adj" fmla="val 173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1" name="Term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0569" y="3082625"/>
            <a:ext cx="235549" cy="235549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394960" y="291693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AMC lapse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5394960" y="31546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15-day grace period, then the site is suspended. Data kept 60 days for export; reactivation is charged.</a:t>
            </a:r>
            <a:endParaRPr lang="en-US" sz="1050" dirty="0"/>
          </a:p>
        </p:txBody>
      </p:sp>
      <p:sp>
        <p:nvSpPr>
          <p:cNvPr id="34" name="Term Ownership"/>
          <p:cNvSpPr/>
          <p:nvPr/>
        </p:nvSpPr>
        <p:spPr>
          <a:xfrm>
            <a:off x="548640" y="3657600"/>
            <a:ext cx="393192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Term 7 icon tile"/>
          <p:cNvSpPr/>
          <p:nvPr/>
        </p:nvSpPr>
        <p:spPr>
          <a:xfrm>
            <a:off x="713232" y="3813048"/>
            <a:ext cx="420624" cy="420624"/>
          </a:xfrm>
          <a:prstGeom prst="roundRect">
            <a:avLst>
              <a:gd name="adj" fmla="val 173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6" name="Term 7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769" y="3905585"/>
            <a:ext cx="235549" cy="235549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280160" y="373989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Ownership</a:t>
            </a:r>
            <a:endParaRPr lang="en-US" sz="1300" dirty="0"/>
          </a:p>
        </p:txBody>
      </p:sp>
      <p:sp>
        <p:nvSpPr>
          <p:cNvPr id="38" name="Text 29"/>
          <p:cNvSpPr txBox="1"/>
          <p:nvPr/>
        </p:nvSpPr>
        <p:spPr>
          <a:xfrm>
            <a:off x="1280160" y="39776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Platform and templates remain Llamaworx property. You own your domain, content and investor data.</a:t>
            </a:r>
            <a:endParaRPr lang="en-US" sz="1050" dirty="0"/>
          </a:p>
        </p:txBody>
      </p:sp>
      <p:sp>
        <p:nvSpPr>
          <p:cNvPr id="39" name="Term Usage, taxes, refunds"/>
          <p:cNvSpPr/>
          <p:nvPr/>
        </p:nvSpPr>
        <p:spPr>
          <a:xfrm>
            <a:off x="4663440" y="3657600"/>
            <a:ext cx="393192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Term 8 icon tile"/>
          <p:cNvSpPr/>
          <p:nvPr/>
        </p:nvSpPr>
        <p:spPr>
          <a:xfrm>
            <a:off x="4828032" y="3813048"/>
            <a:ext cx="420624" cy="420624"/>
          </a:xfrm>
          <a:prstGeom prst="roundRect">
            <a:avLst>
              <a:gd name="adj" fmla="val 173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1" name="Term 8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0569" y="3905585"/>
            <a:ext cx="235549" cy="235549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5394960" y="373989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Usage, taxes, refunds</a:t>
            </a:r>
            <a:endParaRPr lang="en-US" sz="1300" dirty="0"/>
          </a:p>
        </p:txBody>
      </p:sp>
      <p:sp>
        <p:nvSpPr>
          <p:cNvPr id="43" name="Text 33"/>
          <p:cNvSpPr txBox="1"/>
          <p:nvPr/>
        </p:nvSpPr>
        <p:spPr>
          <a:xfrm>
            <a:off x="5394960" y="39776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AI usage from a prepaid wallet; third-party fees at actuals; taxes extra. Refund only before onboarding.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7548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Your business stays yours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chemeClr val="accent1"/>
                </a:solidFill>
              </a:rPr>
              <a:t>OWNERSHIP</a:t>
            </a:r>
            <a:endParaRPr lang="en-US" sz="1050" dirty="0"/>
          </a:p>
        </p:txBody>
      </p:sp>
      <p:sp>
        <p:nvSpPr>
          <p:cNvPr id="4" name="Ownership 1"/>
          <p:cNvSpPr/>
          <p:nvPr/>
        </p:nvSpPr>
        <p:spPr>
          <a:xfrm>
            <a:off x="548640" y="1280160"/>
            <a:ext cx="3931920" cy="141732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Ownership 1 icon tile"/>
          <p:cNvSpPr/>
          <p:nvPr/>
        </p:nvSpPr>
        <p:spPr>
          <a:xfrm>
            <a:off x="804672" y="1536192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Ownership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314" y="1646834"/>
            <a:ext cx="281635" cy="2816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51790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Your domain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1865376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Registered in your name and email. We only point it to the platform.</a:t>
            </a:r>
            <a:endParaRPr lang="en-US" sz="1300" dirty="0"/>
          </a:p>
        </p:txBody>
      </p:sp>
      <p:sp>
        <p:nvSpPr>
          <p:cNvPr id="9" name="Ownership 2"/>
          <p:cNvSpPr/>
          <p:nvPr/>
        </p:nvSpPr>
        <p:spPr>
          <a:xfrm>
            <a:off x="4663440" y="1280160"/>
            <a:ext cx="3931920" cy="141732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Ownership 2 icon tile"/>
          <p:cNvSpPr/>
          <p:nvPr/>
        </p:nvSpPr>
        <p:spPr>
          <a:xfrm>
            <a:off x="4919472" y="1536192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1" name="Ownership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0114" y="1646834"/>
            <a:ext cx="281635" cy="281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23560" y="151790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Your content and leads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623560" y="1865376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Your text, photos and enquiry list are yours. Export them any time.</a:t>
            </a:r>
            <a:endParaRPr lang="en-US" sz="1300" dirty="0"/>
          </a:p>
        </p:txBody>
      </p:sp>
      <p:sp>
        <p:nvSpPr>
          <p:cNvPr id="14" name="Ownership 3"/>
          <p:cNvSpPr/>
          <p:nvPr/>
        </p:nvSpPr>
        <p:spPr>
          <a:xfrm>
            <a:off x="548640" y="2880360"/>
            <a:ext cx="3931920" cy="141732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Ownership 3 icon tile"/>
          <p:cNvSpPr/>
          <p:nvPr/>
        </p:nvSpPr>
        <p:spPr>
          <a:xfrm>
            <a:off x="804672" y="3136392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6" name="Ownership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314" y="3247034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311810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Your investors' data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508760" y="3465576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Stored in India, used only to serve your business, never sold or shared.</a:t>
            </a:r>
            <a:endParaRPr lang="en-US" sz="1300" dirty="0"/>
          </a:p>
        </p:txBody>
      </p:sp>
      <p:sp>
        <p:nvSpPr>
          <p:cNvPr id="19" name="Ownership 4"/>
          <p:cNvSpPr/>
          <p:nvPr/>
        </p:nvSpPr>
        <p:spPr>
          <a:xfrm>
            <a:off x="4663440" y="2880360"/>
            <a:ext cx="3931920" cy="141732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Ownership 4 icon tile"/>
          <p:cNvSpPr/>
          <p:nvPr/>
        </p:nvSpPr>
        <p:spPr>
          <a:xfrm>
            <a:off x="4919472" y="3136392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1" name="Ownership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0114" y="3247034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23560" y="311810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Your exit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623560" y="3465576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If you leave, we help you export content and repoint your domain.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7548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Questions MFDs ask us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chemeClr val="accent1"/>
                </a:solidFill>
              </a:rPr>
              <a:t>FAQS</a:t>
            </a:r>
            <a:endParaRPr lang="en-US" sz="1050" dirty="0"/>
          </a:p>
        </p:txBody>
      </p:sp>
      <p:sp>
        <p:nvSpPr>
          <p:cNvPr id="4" name="FAQ 1"/>
          <p:cNvSpPr/>
          <p:nvPr/>
        </p:nvSpPr>
        <p:spPr>
          <a:xfrm>
            <a:off x="548640" y="1234440"/>
            <a:ext cx="3931920" cy="987552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6245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Do I need technical skills?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655064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No. We build and launch your site and train you. You edit with simple forms.</a:t>
            </a:r>
            <a:endParaRPr lang="en-US" sz="1200" dirty="0"/>
          </a:p>
        </p:txBody>
      </p:sp>
      <p:sp>
        <p:nvSpPr>
          <p:cNvPr id="7" name="FAQ 2"/>
          <p:cNvSpPr/>
          <p:nvPr/>
        </p:nvSpPr>
        <p:spPr>
          <a:xfrm>
            <a:off x="4663440" y="1234440"/>
            <a:ext cx="3931920" cy="987552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36245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Can I use my existing domain?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655064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Yes. It stays registered in your name; we connect it to the platform.</a:t>
            </a:r>
            <a:endParaRPr lang="en-US" sz="1200" dirty="0"/>
          </a:p>
        </p:txBody>
      </p:sp>
      <p:sp>
        <p:nvSpPr>
          <p:cNvPr id="10" name="FAQ 3"/>
          <p:cNvSpPr/>
          <p:nvPr/>
        </p:nvSpPr>
        <p:spPr>
          <a:xfrm>
            <a:off x="548640" y="2331720"/>
            <a:ext cx="3931920" cy="987552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45973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Will the AI give investment advice?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752344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No. It answers only from content you approve and passes personal questions to you.</a:t>
            </a:r>
            <a:endParaRPr lang="en-US" sz="1200" dirty="0"/>
          </a:p>
        </p:txBody>
      </p:sp>
      <p:sp>
        <p:nvSpPr>
          <p:cNvPr id="13" name="FAQ 4"/>
          <p:cNvSpPr/>
          <p:nvPr/>
        </p:nvSpPr>
        <p:spPr>
          <a:xfrm>
            <a:off x="4663440" y="2331720"/>
            <a:ext cx="3931920" cy="987552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245973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Can investors see their portfolio?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752344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Add a “Client login” button that links to your existing back-office platform.</a:t>
            </a:r>
            <a:endParaRPr lang="en-US" sz="1200" dirty="0"/>
          </a:p>
        </p:txBody>
      </p:sp>
      <p:sp>
        <p:nvSpPr>
          <p:cNvPr id="16" name="FAQ 5"/>
          <p:cNvSpPr/>
          <p:nvPr/>
        </p:nvSpPr>
        <p:spPr>
          <a:xfrm>
            <a:off x="548640" y="3429000"/>
            <a:ext cx="3931920" cy="987552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55701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What if I use more AI than my credit?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849624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Usage draws from your prepaid wallet, with alerts before it runs low. No surprise bills.</a:t>
            </a:r>
            <a:endParaRPr lang="en-US" sz="1200" dirty="0"/>
          </a:p>
        </p:txBody>
      </p:sp>
      <p:sp>
        <p:nvSpPr>
          <p:cNvPr id="19" name="FAQ 6"/>
          <p:cNvSpPr/>
          <p:nvPr/>
        </p:nvSpPr>
        <p:spPr>
          <a:xfrm>
            <a:off x="4663440" y="3429000"/>
            <a:ext cx="3931920" cy="987552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92040" y="355701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Can I change plans later?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3849624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Yes. Upgrade any time — we quote the difference in writing first.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bg1"/>
                </a:solidFill>
              </a:rPr>
              <a:t>LLAMAWORX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3716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Become a founding MFD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Early access to the platform and a direct say in what we build next.</a:t>
            </a:r>
            <a:endParaRPr lang="en-US" sz="1600" dirty="0"/>
          </a:p>
        </p:txBody>
      </p:sp>
      <p:sp>
        <p:nvSpPr>
          <p:cNvPr id="5" name="Offer badge"/>
          <p:cNvSpPr/>
          <p:nvPr/>
        </p:nvSpPr>
        <p:spPr>
          <a:xfrm>
            <a:off x="548640" y="3456432"/>
            <a:ext cx="448056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4564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Launch prices for orders confirmed on the webinar day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60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Llamaworx Software Pvt Ltd  ·  Llamaworx.com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4622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100% advance within 7 days  ·  Yearly AMC 30% from year 2  ·  Taxes as applicable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868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chemeClr val="accent4"/>
                </a:solidFill>
              </a:rPr>
              <a:t>NEXT STEPS</a:t>
            </a:r>
            <a:endParaRPr lang="en-US" sz="1050" dirty="0"/>
          </a:p>
        </p:txBody>
      </p:sp>
      <p:sp>
        <p:nvSpPr>
          <p:cNvPr id="10" name="Next step 1"/>
          <p:cNvSpPr/>
          <p:nvPr/>
        </p:nvSpPr>
        <p:spPr>
          <a:xfrm>
            <a:off x="5760720" y="1234440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60720" y="1234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382512" y="12344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Book a 20-minute discovery call</a:t>
            </a:r>
            <a:endParaRPr lang="en-US" sz="1300" dirty="0"/>
          </a:p>
        </p:txBody>
      </p:sp>
      <p:sp>
        <p:nvSpPr>
          <p:cNvPr id="13" name="Next step 2"/>
          <p:cNvSpPr/>
          <p:nvPr/>
        </p:nvSpPr>
        <p:spPr>
          <a:xfrm>
            <a:off x="5760720" y="198424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60720" y="1984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382512" y="198424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Choose your plan</a:t>
            </a:r>
            <a:endParaRPr lang="en-US" sz="1300" dirty="0"/>
          </a:p>
        </p:txBody>
      </p:sp>
      <p:sp>
        <p:nvSpPr>
          <p:cNvPr id="16" name="Next step 3"/>
          <p:cNvSpPr/>
          <p:nvPr/>
        </p:nvSpPr>
        <p:spPr>
          <a:xfrm>
            <a:off x="5760720" y="2734056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60720" y="2734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382512" y="273405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Share your ARN, logo and content</a:t>
            </a:r>
            <a:endParaRPr lang="en-US" sz="1300" dirty="0"/>
          </a:p>
        </p:txBody>
      </p:sp>
      <p:sp>
        <p:nvSpPr>
          <p:cNvPr id="19" name="Next step 4"/>
          <p:cNvSpPr/>
          <p:nvPr/>
        </p:nvSpPr>
        <p:spPr>
          <a:xfrm>
            <a:off x="5760720" y="3483864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60720" y="34838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382512" y="348386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Review, approve and go live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9202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Appendix: complete feature list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97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Every feature, by plan, with availability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7548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Website and branding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chemeClr val="accent1"/>
                </a:solidFill>
              </a:rPr>
              <a:t>APPENDIX  ·  COMPLETE FEATURE LIST</a:t>
            </a:r>
            <a:endParaRPr lang="en-US" sz="1050" dirty="0"/>
          </a:p>
        </p:txBody>
      </p:sp>
      <p:graphicFrame>
        <p:nvGraphicFramePr>
          <p:cNvPr id="21" name="Website and branding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07008"/>
          <a:ext cx="804672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960120"/>
                <a:gridCol w="960120"/>
                <a:gridCol w="960120"/>
                <a:gridCol w="123444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Feature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Essential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Growth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Pro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Status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Website built for you from your ARN and details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AI site builder: create and edit pages by chat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97706"/>
                          </a:solidFill>
                        </a:rPr>
                        <a:t>Coming soon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Design templates made for MFDs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Your logo, colours and fonts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Number of pages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Up to 8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Up to 15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Up to 25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Announcements, notices and campaign banners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Investor-education blog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6C0CE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Images, YouTube videos and downloadable forms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Regional-language pages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6C0CE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97706"/>
                          </a:solidFill>
                        </a:rPr>
                        <a:t>Coming soon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46227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✓ Included   — Not included   Coming soon: on our roadmap; timing shared at onboarding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7548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Domain, hosting and security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chemeClr val="accent1"/>
                </a:solidFill>
              </a:rPr>
              <a:t>APPENDIX  ·  COMPLETE FEATURE LIST</a:t>
            </a:r>
            <a:endParaRPr lang="en-US" sz="1050" dirty="0"/>
          </a:p>
        </p:txBody>
      </p:sp>
      <p:graphicFrame>
        <p:nvGraphicFramePr>
          <p:cNvPr id="22" name="Domain, hosting and securit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07008"/>
          <a:ext cx="804672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960120"/>
                <a:gridCol w="960120"/>
                <a:gridCol w="960120"/>
                <a:gridCol w="123444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Feature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Essential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Growth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Pro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Status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Free Llamaworx subdomain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Connect your own domain (stays in your name)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SSL security certificate (https)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Managed hosting, security updates and backups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Mobile-friendly, fast-loading pages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Investor data stored in India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“Client login” button to your back-office platform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46227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✓ Included   — Not included   Coming soon: on our roadmap; timing shared at onboarding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7548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Investor tools: calculators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chemeClr val="accent1"/>
                </a:solidFill>
              </a:rPr>
              <a:t>APPENDIX  ·  COMPLETE FEATURE LIST</a:t>
            </a:r>
            <a:endParaRPr lang="en-US" sz="1050" dirty="0"/>
          </a:p>
        </p:txBody>
      </p:sp>
      <p:graphicFrame>
        <p:nvGraphicFramePr>
          <p:cNvPr id="23" name="Investor tools: calculator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07008"/>
          <a:ext cx="804672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960120"/>
                <a:gridCol w="960120"/>
                <a:gridCol w="960120"/>
                <a:gridCol w="123444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Feature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Essential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Growth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Pro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Status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SIP calculator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Step-up SIP calculator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Lumpsum calculator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SWP calculator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STP calculator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Goal planners: retirement, education, home, marriage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Cost-of-delay calculator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Inflation calculator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ELSS tax-saving estimator (old tax regime)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Assumptions and disclaimer beside every result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46227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✓ Included   — Not included   Coming soon: on our roadmap; timing shared at onboarding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7548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Investor tools: funds and portfolio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chemeClr val="accent1"/>
                </a:solidFill>
              </a:rPr>
              <a:t>APPENDIX  ·  COMPLETE FEATURE LIST</a:t>
            </a:r>
            <a:endParaRPr lang="en-US" sz="1050" dirty="0"/>
          </a:p>
        </p:txBody>
      </p:sp>
      <p:graphicFrame>
        <p:nvGraphicFramePr>
          <p:cNvPr id="24" name="Investor tools: funds and portfolio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07008"/>
          <a:ext cx="804672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960120"/>
                <a:gridCol w="960120"/>
                <a:gridCol w="960120"/>
                <a:gridCol w="123444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Feature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Essential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Growth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Pro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Status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Fund search with latest NAV and NAV chart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“What if I had invested” historical SIP returns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Show direct plans, regular plans or both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Data source (AMFI) and as-of date on every result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XIRR calculator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6C0CE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Fund comparison: 3–4 schemes, 1/3/5-year returns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6C0CE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97706"/>
                          </a:solidFill>
                        </a:rPr>
                        <a:t>Coming soon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Category explorer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6C0CE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97706"/>
                          </a:solidFill>
                        </a:rPr>
                        <a:t>Coming soon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Risk-profile questionnaire (educational)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6C0CE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97706"/>
                          </a:solidFill>
                        </a:rPr>
                        <a:t>Coming soon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CAS portfolio review: allocation and gaps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6C0CE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6C0CE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97706"/>
                          </a:solidFill>
                        </a:rPr>
                        <a:t>Coming soon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Portfolio overlap check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6C0CE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6C0CE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97706"/>
                          </a:solidFill>
                        </a:rPr>
                        <a:t>Coming soon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46227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✓ Included   — Not included   Coming soon: on our roadmap; timing shared at onboarding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7548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AI assistants, powered by Bolka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chemeClr val="accent1"/>
                </a:solidFill>
              </a:rPr>
              <a:t>APPENDIX  ·  COMPLETE FEATURE LIST</a:t>
            </a:r>
            <a:endParaRPr lang="en-US" sz="1050" dirty="0"/>
          </a:p>
        </p:txBody>
      </p:sp>
      <p:graphicFrame>
        <p:nvGraphicFramePr>
          <p:cNvPr id="25" name="AI assistants, powered by Bolk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07008"/>
          <a:ext cx="804672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960120"/>
                <a:gridCol w="960120"/>
                <a:gridCol w="960120"/>
                <a:gridCol w="123444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Feature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Essential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Growth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Pro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Status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Website AI chat assistant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6C0CE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Answers only from your approved FAQs and content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6C0CE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English, Hindi and other Indian languages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6C0CE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Handoff to you for advice requests and complaints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6C0CE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Conversation transcripts and summaries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6C0CE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Test console before going live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6C0CE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WhatsApp assistant on your business number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6C0CE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97706"/>
                          </a:solidFill>
                        </a:rPr>
                        <a:t>Coming soon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Instagram DM assistant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6C0CE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6C0CE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97706"/>
                          </a:solidFill>
                        </a:rPr>
                        <a:t>Coming soon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Website voice assistant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6C0CE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6C0CE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97706"/>
                          </a:solidFill>
                        </a:rPr>
                        <a:t>Coming soon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Phone AI helpline for inbound calls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6C0CE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6C0CE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97706"/>
                          </a:solidFill>
                        </a:rPr>
                        <a:t>Coming soon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46227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✓ Included   — Not included   Coming soon: on our roadmap; timing shared at onboarding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7548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Enquiries, meetings and follow-up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chemeClr val="accent1"/>
                </a:solidFill>
              </a:rPr>
              <a:t>APPENDIX  ·  COMPLETE FEATURE LIST</a:t>
            </a:r>
            <a:endParaRPr lang="en-US" sz="1050" dirty="0"/>
          </a:p>
        </p:txBody>
      </p:sp>
      <p:graphicFrame>
        <p:nvGraphicFramePr>
          <p:cNvPr id="26" name="Enquiries, meetings and follow-up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07008"/>
          <a:ext cx="804672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960120"/>
                <a:gridCol w="960120"/>
                <a:gridCol w="960120"/>
                <a:gridCol w="123444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Feature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Essential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Growth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Pro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Status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Enquiry and call-back form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Lead inbox: every enquiry from every channel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Lead status, notes and tags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Instant email alert for each new enquiry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Consent capture and consent log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Lead export to CSV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Follow-up reminders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6C0CE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Meeting booking with Google or Outlook calendar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6C0CE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97706"/>
                          </a:solidFill>
                        </a:rPr>
                        <a:t>Coming soon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Email nurture sequences (investor education)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6C0CE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6C0CE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97706"/>
                          </a:solidFill>
                        </a:rPr>
                        <a:t>Coming soon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“Discuss this” button and report download on tools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46227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✓ Included   — Not included   Coming soon: on our roadmap; timing shared at onboarding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7548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Get found: SEO and AEO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chemeClr val="accent1"/>
                </a:solidFill>
              </a:rPr>
              <a:t>APPENDIX  ·  COMPLETE FEATURE LIST</a:t>
            </a:r>
            <a:endParaRPr lang="en-US" sz="1050" dirty="0"/>
          </a:p>
        </p:txBody>
      </p:sp>
      <p:graphicFrame>
        <p:nvGraphicFramePr>
          <p:cNvPr id="27" name="Get found: SEO and AEO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07008"/>
          <a:ext cx="804672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960120"/>
                <a:gridCol w="960120"/>
                <a:gridCol w="960120"/>
                <a:gridCol w="123444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Feature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Essential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Growth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Pro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Status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Page titles, descriptions and clean web addresses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Automatic sitemap for search engines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Google Search Console connection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Google Business Profile checklist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Local-business structured data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Page-speed score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AEO FAQ library for AI answer engines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6C0CE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97706"/>
                          </a:solidFill>
                        </a:rPr>
                        <a:t>Coming soon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Monthly AI-visibility check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6C0CE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97706"/>
                          </a:solidFill>
                        </a:rPr>
                        <a:t>Coming soon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Content agent: monthly post drafts for approval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6C0CE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6C0CE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97706"/>
                          </a:solidFill>
                        </a:rPr>
                        <a:t>Coming soon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46227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✓ Included   — Not included   Coming soon: on our roadmap; timing shared at onboarding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7548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Dashboard, reports and compliance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chemeClr val="accent1"/>
                </a:solidFill>
              </a:rPr>
              <a:t>APPENDIX  ·  COMPLETE FEATURE LIST</a:t>
            </a:r>
            <a:endParaRPr lang="en-US" sz="1050" dirty="0"/>
          </a:p>
        </p:txBody>
      </p:sp>
      <p:graphicFrame>
        <p:nvGraphicFramePr>
          <p:cNvPr id="28" name="Dashboard, reports and complianc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07008"/>
          <a:ext cx="804672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960120"/>
                <a:gridCol w="960120"/>
                <a:gridCol w="960120"/>
                <a:gridCol w="123444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Feature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Essential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Growth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Pro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Status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Home dashboard: visitors, enquiries, meetings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Traffic sources and top pages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AI conversation statistics by channel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6C0CE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Monthly performance report by email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6C0CE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97706"/>
                          </a:solidFill>
                        </a:rPr>
                        <a:t>Coming soon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AI wallet usage by channel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6C0CE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97706"/>
                          </a:solidFill>
                        </a:rPr>
                        <a:t>Coming soon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Name, ARN and AMFI tagline locked on every page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ARN renewal alerts and restricted-terms checker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Market-risk disclaimer on every page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AI guardrails: no scheme recommendations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6C0CE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Approval trail for every published change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46227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✓ Included   — Not included   Coming soon: on our roadmap; timing shared at onboarding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7548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Account, team and support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chemeClr val="accent1"/>
                </a:solidFill>
              </a:rPr>
              <a:t>APPENDIX  ·  COMPLETE FEATURE LIST</a:t>
            </a:r>
            <a:endParaRPr lang="en-US" sz="1050" dirty="0"/>
          </a:p>
        </p:txBody>
      </p:sp>
      <p:graphicFrame>
        <p:nvGraphicFramePr>
          <p:cNvPr id="29" name="Account, team and suppor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07008"/>
          <a:ext cx="804672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960120"/>
                <a:gridCol w="960120"/>
                <a:gridCol w="960120"/>
                <a:gridCol w="123444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Feature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Essential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Growth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Pro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F44"/>
                          </a:solidFill>
                        </a:rPr>
                        <a:t>Status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1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Users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1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3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10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Included AI credit per month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6C0CE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₹500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₹1,500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Done-for-you setup and onboarding call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Roles and permissions (owner, staff)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6C0CE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Sub-broker role and per-EUIN team pages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6C0CE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6C0CE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Two-factor login and activity log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Support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Email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+ WhatsApp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Priority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Small edits by our team per month (with AMC)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2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4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8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F44"/>
                          </a:solidFill>
                        </a:rPr>
                        <a:t>One-time fee, then yearly AMC (30%)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</a:rPr>
                        <a:t>At launch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46227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✓ Included   — Not included   Coming soon: on our roadmap; timing shared at onboarding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lamaworx MFD v4">
  <a:themeElements>
    <a:clrScheme name="Llamaworx MFD v4">
      <a:dk1>
        <a:srgbClr val="0B1F44"/>
      </a:dk1>
      <a:lt1>
        <a:srgbClr val="FFFFFF"/>
      </a:lt1>
      <a:dk2>
        <a:srgbClr val="475569"/>
      </a:dk2>
      <a:lt2>
        <a:srgbClr val="F4F6FA"/>
      </a:lt2>
      <a:accent1>
        <a:srgbClr val="2563EB"/>
      </a:accent1>
      <a:accent2>
        <a:srgbClr val="D97706"/>
      </a:accent2>
      <a:accent3>
        <a:srgbClr val="15803D"/>
      </a:accent3>
      <a:accent4>
        <a:srgbClr val="94A3B8"/>
      </a:accent4>
      <a:accent5>
        <a:srgbClr val="EAF1FF"/>
      </a:accent5>
      <a:accent6>
        <a:srgbClr val="FEF3E2"/>
      </a:accent6>
      <a:hlink>
        <a:srgbClr val="2563EB"/>
      </a:hlink>
      <a:folHlink>
        <a:srgbClr val="475569"/>
      </a:folHlink>
    </a:clrScheme>
    <a:fontScheme name="Llamaworx MFD v4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Llamaworx Software Pvt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Llamaworx for MFDs - Plans, Pricing and Features</dc:title>
  <dc:subject>PptxGenJS Presentation</dc:subject>
  <dc:creator>Llamaworx Software Pvt Ltd</dc:creator>
  <cp:lastModifiedBy>Llamaworx Software Pvt Ltd</cp:lastModifiedBy>
  <cp:revision>1</cp:revision>
  <dcterms:created xsi:type="dcterms:W3CDTF">2026-10-04T02:55:26Z</dcterms:created>
  <dcterms:modified xsi:type="dcterms:W3CDTF">2026-10-04T02:55:26Z</dcterms:modified>
</cp:coreProperties>
</file>